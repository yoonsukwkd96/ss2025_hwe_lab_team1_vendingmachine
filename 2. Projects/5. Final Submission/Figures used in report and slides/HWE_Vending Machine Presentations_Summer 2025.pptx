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05" r:id="rId1"/>
  </p:sldMasterIdLst>
  <p:notesMasterIdLst>
    <p:notesMasterId r:id="rId25"/>
  </p:notesMasterIdLst>
  <p:sldIdLst>
    <p:sldId id="256" r:id="rId2"/>
    <p:sldId id="257" r:id="rId3"/>
    <p:sldId id="27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3d320e355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3d320e355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3d320e355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3d320e355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54934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3d320e3551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3d320e3551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3d320e3551_0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3d320e3551_0_3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3d320e3551_0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3d320e3551_0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3d320e3551_0_3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3d320e3551_0_3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3d320e3551_0_3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3d320e3551_0_3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3d320e3551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3d320e3551_0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3d320e3551_0_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3d320e3551_0_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3d320e3551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3d320e3551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3d320e3551_0_3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3d320e3551_0_3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3d320e3551_0_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3d320e3551_0_3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3d320e3551_0_3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3d320e3551_0_3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3d320e3551_0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3d320e3551_0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3d320e3551_0_4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3d320e3551_0_4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3d320e355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3d320e355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3d320e3551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3d320e3551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3d320e355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3d320e3551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6a627ac3a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6a627ac3a3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6a627ac3a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6a627ac3a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6a627ac3a3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6a627ac3a3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3d320e355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3d320e355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90626" y="1010210"/>
            <a:ext cx="7667244" cy="60512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90626" y="3224773"/>
            <a:ext cx="7667244" cy="60512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90626" y="1113584"/>
            <a:ext cx="7667244" cy="20574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7236911" y="3051692"/>
            <a:ext cx="810678" cy="810677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074167"/>
            <a:ext cx="7475220" cy="2276856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3291840"/>
            <a:ext cx="5918454" cy="802386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1"/>
                </a:solidFill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6/24/2025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194550" y="3217001"/>
            <a:ext cx="895401" cy="480060"/>
          </a:xfrm>
        </p:spPr>
        <p:txBody>
          <a:bodyPr/>
          <a:lstStyle>
            <a:lvl1pPr>
              <a:defRPr sz="2100"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491511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6/24/2025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720127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688492"/>
            <a:ext cx="9144000" cy="1455008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918972"/>
            <a:ext cx="6960870" cy="264033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1" y="3765042"/>
            <a:ext cx="6789420" cy="800100"/>
          </a:xfrm>
        </p:spPr>
        <p:txBody>
          <a:bodyPr anchor="t"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4704588"/>
            <a:ext cx="1983232" cy="273844"/>
          </a:xfrm>
        </p:spPr>
        <p:txBody>
          <a:bodyPr/>
          <a:lstStyle/>
          <a:p>
            <a:fld id="{96DFF08F-DC6B-4601-B491-B0F83F6DD2DA}" type="datetimeFigureOut">
              <a:rPr lang="en-US" smtClean="0"/>
              <a:t>6/24/2025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7031" y="4704588"/>
            <a:ext cx="4745736" cy="273844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673049" y="1744386"/>
            <a:ext cx="810678" cy="810677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2776" y="1879600"/>
            <a:ext cx="891224" cy="540249"/>
          </a:xfrm>
        </p:spPr>
        <p:txBody>
          <a:bodyPr/>
          <a:lstStyle>
            <a:lvl1pPr>
              <a:defRPr sz="2100"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156498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2386" y="1645920"/>
            <a:ext cx="3566160" cy="298323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3168" y="1645920"/>
            <a:ext cx="3566160" cy="298323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6/24/2025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385599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0100" y="1536192"/>
            <a:ext cx="3566160" cy="480060"/>
          </a:xfrm>
        </p:spPr>
        <p:txBody>
          <a:bodyPr anchor="ctr">
            <a:normAutofit/>
          </a:bodyPr>
          <a:lstStyle>
            <a:lvl1pPr marL="0" indent="0">
              <a:buNone/>
              <a:defRPr sz="1500" b="1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2386" y="2057400"/>
            <a:ext cx="3566160" cy="246888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3168" y="1536192"/>
            <a:ext cx="3566160" cy="480060"/>
          </a:xfrm>
        </p:spPr>
        <p:txBody>
          <a:bodyPr anchor="ctr">
            <a:normAutofit/>
          </a:bodyPr>
          <a:lstStyle>
            <a:lvl1pPr marL="0" indent="0">
              <a:buNone/>
              <a:defRPr sz="1500" b="1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3168" y="2057400"/>
            <a:ext cx="3566160" cy="246888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6/24/2025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578528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6/24/2025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162873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6/24/2025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6871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51434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514350"/>
            <a:ext cx="2400300" cy="1303020"/>
          </a:xfrm>
        </p:spPr>
        <p:txBody>
          <a:bodyPr anchor="b">
            <a:normAutofit/>
          </a:bodyPr>
          <a:lstStyle>
            <a:lvl1pPr>
              <a:defRPr sz="24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514350"/>
            <a:ext cx="5033772" cy="3765042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1817370"/>
            <a:ext cx="2400300" cy="24688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05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6/24/2025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8551294" y="4672261"/>
            <a:ext cx="342900" cy="3429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839708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51434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514350"/>
            <a:ext cx="2400300" cy="1303020"/>
          </a:xfrm>
        </p:spPr>
        <p:txBody>
          <a:bodyPr anchor="b">
            <a:normAutofit/>
          </a:bodyPr>
          <a:lstStyle>
            <a:lvl1pPr>
              <a:defRPr sz="24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51435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1817370"/>
            <a:ext cx="2400300" cy="24688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05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6/24/2025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8551294" y="4672261"/>
            <a:ext cx="342900" cy="3429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843854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6/24/2025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26194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00050"/>
            <a:ext cx="1914525" cy="4229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400050"/>
            <a:ext cx="5629275" cy="42291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6/24/2025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33438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99148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2386" y="363474"/>
            <a:ext cx="7543800" cy="12070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2386" y="1591056"/>
            <a:ext cx="7543800" cy="30380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3318" y="4704588"/>
            <a:ext cx="245516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2"/>
                </a:solidFill>
              </a:defRPr>
            </a:lvl1pPr>
          </a:lstStyle>
          <a:p>
            <a:fld id="{96DFF08F-DC6B-4601-B491-B0F83F6DD2DA}" type="datetimeFigureOut">
              <a:rPr lang="en-US" smtClean="0"/>
              <a:pPr/>
              <a:t>6/24/2025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6102" y="4704588"/>
            <a:ext cx="474573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8551294" y="4672261"/>
            <a:ext cx="342900" cy="3429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4704588"/>
            <a:ext cx="48006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rgbClr val="FFFFFF"/>
                </a:solidFill>
                <a:latin typeface="+mj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1925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50" kern="1200" cap="all" baseline="0">
          <a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0000"/>
        </a:lnSpc>
        <a:spcBef>
          <a:spcPts val="9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2037750"/>
            <a:ext cx="8520600" cy="106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Vending Machine Controller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301623" y="3335572"/>
            <a:ext cx="6380672" cy="8023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Team 1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Younsuk Choi, </a:t>
            </a:r>
            <a:r>
              <a:rPr lang="en-GB" dirty="0" err="1"/>
              <a:t>Yuming</a:t>
            </a:r>
            <a:r>
              <a:rPr lang="en-GB" dirty="0"/>
              <a:t> (Leano) Wang, Muhammad </a:t>
            </a:r>
            <a:r>
              <a:rPr lang="en-GB" dirty="0" err="1"/>
              <a:t>Emaan</a:t>
            </a:r>
            <a:r>
              <a:rPr lang="en-GB" dirty="0"/>
              <a:t> Sajid</a:t>
            </a:r>
            <a:endParaRPr dirty="0"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4294967295"/>
          </p:nvPr>
        </p:nvSpPr>
        <p:spPr>
          <a:xfrm>
            <a:off x="353875" y="4218287"/>
            <a:ext cx="8521700" cy="7921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50" dirty="0"/>
              <a:t>2025.06.24</a:t>
            </a:r>
            <a:endParaRPr sz="1650" dirty="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Hardware Engineering Lab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48110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Summer Term 2025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3783275" y="487740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chemeClr val="dk2"/>
                </a:solidFill>
              </a:rPr>
              <a:t>Page 1: presenter Emaan</a:t>
            </a:r>
            <a:endParaRPr sz="8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Requirements and Functionalities</a:t>
            </a:r>
            <a:endParaRPr dirty="0"/>
          </a:p>
        </p:txBody>
      </p:sp>
      <p:sp>
        <p:nvSpPr>
          <p:cNvPr id="65" name="Google Shape;65;p14"/>
          <p:cNvSpPr txBox="1"/>
          <p:nvPr/>
        </p:nvSpPr>
        <p:spPr>
          <a:xfrm>
            <a:off x="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Hardware Engineering Lab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748110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Summer Term 2025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3783275" y="487740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GB" sz="800" dirty="0">
                <a:solidFill>
                  <a:schemeClr val="dk2"/>
                </a:solidFill>
              </a:rPr>
              <a:t>Page 2 : presenter Emaan</a:t>
            </a:r>
            <a:endParaRPr sz="800" dirty="0">
              <a:solidFill>
                <a:schemeClr val="dk2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5B2D6C-8292-4F24-9069-C77DEE64E7C3}"/>
              </a:ext>
            </a:extLst>
          </p:cNvPr>
          <p:cNvSpPr/>
          <p:nvPr/>
        </p:nvSpPr>
        <p:spPr>
          <a:xfrm>
            <a:off x="118142" y="1343035"/>
            <a:ext cx="6476218" cy="35343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 fontAlgn="base">
              <a:lnSpc>
                <a:spcPct val="107000"/>
              </a:lnSpc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en-US" sz="1400" dirty="0"/>
              <a:t>We started our project by formulating what functionalities we would like to achieve with this project. The goal of the project was to design and implement a fully functional vending machine controller using an FPGA, with a modular VHDL architecture, then later on design a custom PCB prototype.</a:t>
            </a:r>
          </a:p>
          <a:p>
            <a:pPr lvl="0" fontAlgn="base">
              <a:lnSpc>
                <a:spcPct val="107000"/>
              </a:lnSpc>
              <a:spcAft>
                <a:spcPts val="0"/>
              </a:spcAft>
              <a:buSzPts val="1000"/>
              <a:tabLst>
                <a:tab pos="457200" algn="l"/>
              </a:tabLst>
            </a:pPr>
            <a:endParaRPr lang="en-US" sz="1400" dirty="0"/>
          </a:p>
          <a:p>
            <a:pPr lvl="0" fontAlgn="base">
              <a:lnSpc>
                <a:spcPct val="107000"/>
              </a:lnSpc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en-US" sz="1400" dirty="0"/>
              <a:t>The key functionalities/requirements of the vending machine was the following. </a:t>
            </a:r>
          </a:p>
          <a:p>
            <a:pPr lvl="0" fontAlgn="base">
              <a:lnSpc>
                <a:spcPct val="107000"/>
              </a:lnSpc>
              <a:spcAft>
                <a:spcPts val="0"/>
              </a:spcAft>
              <a:buSzPts val="1000"/>
              <a:tabLst>
                <a:tab pos="457200" algn="l"/>
              </a:tabLst>
            </a:pPr>
            <a:endParaRPr lang="en-US" sz="1400" dirty="0"/>
          </a:p>
          <a:p>
            <a:pPr marL="342900" lvl="0" indent="-342900" fontAlgn="base">
              <a:lnSpc>
                <a:spcPct val="107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/>
              <a:t>Selection of items using switches</a:t>
            </a:r>
          </a:p>
          <a:p>
            <a:pPr marL="342900" lvl="0" indent="-342900" fontAlgn="base">
              <a:lnSpc>
                <a:spcPct val="107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/>
              <a:t>Display the names and the prices of the items using 8 digits of seven segment display</a:t>
            </a:r>
          </a:p>
          <a:p>
            <a:pPr marL="342900" lvl="0" indent="-342900" fontAlgn="base">
              <a:lnSpc>
                <a:spcPct val="107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/>
              <a:t>Insertion coins using push buttons</a:t>
            </a:r>
          </a:p>
          <a:p>
            <a:pPr marL="342900" lvl="0" indent="-342900" fontAlgn="base">
              <a:lnSpc>
                <a:spcPct val="107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/>
              <a:t>Display the inserted coin amounts using 8 digits of seven segment display</a:t>
            </a:r>
          </a:p>
          <a:p>
            <a:pPr marL="342900" lvl="0" indent="-342900" fontAlgn="base">
              <a:lnSpc>
                <a:spcPct val="107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/>
              <a:t>Display the current state using LEDs</a:t>
            </a:r>
          </a:p>
        </p:txBody>
      </p:sp>
      <p:pic>
        <p:nvPicPr>
          <p:cNvPr id="2052" name="Picture 4" descr="Vending Machine Filled Line Icon Grafik Von Mahi Icons · Creative Fabrica">
            <a:extLst>
              <a:ext uri="{FF2B5EF4-FFF2-40B4-BE49-F238E27FC236}">
                <a16:creationId xmlns:a16="http://schemas.microsoft.com/office/drawing/2014/main" id="{2BCCC032-A2E6-492B-B40E-EF094A8412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84" t="5173" r="29064" b="5173"/>
          <a:stretch/>
        </p:blipFill>
        <p:spPr bwMode="auto">
          <a:xfrm>
            <a:off x="6701151" y="1481728"/>
            <a:ext cx="1998387" cy="2888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Concepts with diagrams_block diagram</a:t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Hardware Engineering Lab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748110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Summer Term 2025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3783275" y="487740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GB" sz="800" dirty="0">
                <a:solidFill>
                  <a:schemeClr val="dk2"/>
                </a:solidFill>
              </a:rPr>
              <a:t>Page 2 : presenter Choi</a:t>
            </a:r>
            <a:endParaRPr sz="800" dirty="0">
              <a:solidFill>
                <a:schemeClr val="dk2"/>
              </a:solidFill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000" y="1051900"/>
            <a:ext cx="5846127" cy="3685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29290" y="1428775"/>
            <a:ext cx="3103620" cy="29313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087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Concepts with diagrams_state machine diagram</a:t>
            </a:r>
            <a:endParaRPr/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703" y="1056425"/>
            <a:ext cx="8772594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 txBox="1"/>
          <p:nvPr/>
        </p:nvSpPr>
        <p:spPr>
          <a:xfrm>
            <a:off x="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Hardware Engineering Lab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748110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Summer Term 2025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3783275" y="487740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GB" sz="800" dirty="0">
                <a:solidFill>
                  <a:schemeClr val="dk2"/>
                </a:solidFill>
              </a:rPr>
              <a:t>Page 3 : presenter Choi</a:t>
            </a:r>
            <a:endParaRPr sz="8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/>
        </p:nvSpPr>
        <p:spPr>
          <a:xfrm>
            <a:off x="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Hardware Engineering Lab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748110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Summer Term 2025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3783275" y="487740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GB" sz="800" dirty="0">
                <a:solidFill>
                  <a:schemeClr val="dk2"/>
                </a:solidFill>
              </a:rPr>
              <a:t>Page 4 : presenter Leano</a:t>
            </a:r>
            <a:endParaRPr sz="800" dirty="0">
              <a:solidFill>
                <a:schemeClr val="dk2"/>
              </a:solidFill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title"/>
          </p:nvPr>
        </p:nvSpPr>
        <p:spPr>
          <a:xfrm>
            <a:off x="46725" y="2661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VHDL Code Implementations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VendingMachine_Top.vhd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3">
            <a:alphaModFix/>
          </a:blip>
          <a:srcRect t="1497"/>
          <a:stretch/>
        </p:blipFill>
        <p:spPr>
          <a:xfrm>
            <a:off x="348250" y="2108400"/>
            <a:ext cx="3636950" cy="26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9204" y="1201690"/>
            <a:ext cx="3710651" cy="36757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/>
        </p:nvSpPr>
        <p:spPr>
          <a:xfrm>
            <a:off x="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Hardware Engineering Lab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748110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Summer Term 2025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3783275" y="487740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GB" sz="800" dirty="0">
                <a:solidFill>
                  <a:schemeClr val="dk2"/>
                </a:solidFill>
              </a:rPr>
              <a:t>Page 5 : presenter Leano</a:t>
            </a:r>
            <a:endParaRPr sz="800" dirty="0">
              <a:solidFill>
                <a:schemeClr val="dk2"/>
              </a:solidFill>
            </a:endParaRPr>
          </a:p>
        </p:txBody>
      </p:sp>
      <p:sp>
        <p:nvSpPr>
          <p:cNvPr id="96" name="Google Shape;96;p17"/>
          <p:cNvSpPr txBox="1">
            <a:spLocks noGrp="1"/>
          </p:cNvSpPr>
          <p:nvPr>
            <p:ph type="title"/>
          </p:nvPr>
        </p:nvSpPr>
        <p:spPr>
          <a:xfrm>
            <a:off x="46725" y="2661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 dirty="0"/>
              <a:t>VHDL Code Implementations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FSM_Controller.vhd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dirty="0"/>
              <a:t>Part 1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3863" y="799413"/>
            <a:ext cx="5041800" cy="41173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54BCC92-7C54-4571-A7D9-9CE417F12378}"/>
              </a:ext>
            </a:extLst>
          </p:cNvPr>
          <p:cNvSpPr txBox="1"/>
          <p:nvPr/>
        </p:nvSpPr>
        <p:spPr>
          <a:xfrm>
            <a:off x="373787" y="2198635"/>
            <a:ext cx="277657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string_to_ascii</a:t>
            </a:r>
            <a:endParaRPr lang="en-US" i="1" dirty="0"/>
          </a:p>
          <a:p>
            <a:r>
              <a:rPr lang="en-US" dirty="0"/>
              <a:t>converts 8-characters string to a 64-bit std_logic_vector</a:t>
            </a:r>
          </a:p>
          <a:p>
            <a:endParaRPr lang="en-US" dirty="0"/>
          </a:p>
          <a:p>
            <a:r>
              <a:rPr lang="en-US" i="1" dirty="0"/>
              <a:t>format_price_to_string</a:t>
            </a:r>
          </a:p>
          <a:p>
            <a:r>
              <a:rPr lang="en-US" dirty="0"/>
              <a:t>converts 14-bit unsigned integer(cents) to 4-digit ASCII character string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/>
        </p:nvSpPr>
        <p:spPr>
          <a:xfrm>
            <a:off x="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Hardware Engineering Lab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748110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Summer Term 2025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04" name="Google Shape;104;p18"/>
          <p:cNvSpPr txBox="1"/>
          <p:nvPr/>
        </p:nvSpPr>
        <p:spPr>
          <a:xfrm>
            <a:off x="3783275" y="487740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GB" sz="800" dirty="0">
                <a:solidFill>
                  <a:schemeClr val="dk2"/>
                </a:solidFill>
              </a:rPr>
              <a:t>Page 6 : presenter Leano</a:t>
            </a:r>
            <a:endParaRPr sz="800" dirty="0">
              <a:solidFill>
                <a:schemeClr val="dk2"/>
              </a:solidFill>
            </a:endParaRPr>
          </a:p>
        </p:txBody>
      </p:sp>
      <p:sp>
        <p:nvSpPr>
          <p:cNvPr id="105" name="Google Shape;105;p18"/>
          <p:cNvSpPr txBox="1">
            <a:spLocks noGrp="1"/>
          </p:cNvSpPr>
          <p:nvPr>
            <p:ph type="title"/>
          </p:nvPr>
        </p:nvSpPr>
        <p:spPr>
          <a:xfrm>
            <a:off x="46725" y="2661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 dirty="0"/>
              <a:t>VHDL Code Implementations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FSM_Controller.vhd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dirty="0"/>
              <a:t>Part 2_processes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06" name="Google Shape;10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625" y="2376513"/>
            <a:ext cx="4080475" cy="2588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" name="Google Shape;107;p18"/>
          <p:cNvGrpSpPr/>
          <p:nvPr/>
        </p:nvGrpSpPr>
        <p:grpSpPr>
          <a:xfrm>
            <a:off x="4383110" y="1107892"/>
            <a:ext cx="3916178" cy="3856775"/>
            <a:chOff x="3869075" y="327425"/>
            <a:chExt cx="3780825" cy="3723475"/>
          </a:xfrm>
        </p:grpSpPr>
        <p:pic>
          <p:nvPicPr>
            <p:cNvPr id="108" name="Google Shape;108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869075" y="327425"/>
              <a:ext cx="3780825" cy="31281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" name="Google Shape;109;p1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869075" y="3455600"/>
              <a:ext cx="1868600" cy="5953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986D69A-6369-4F6E-8545-647A3517A808}"/>
              </a:ext>
            </a:extLst>
          </p:cNvPr>
          <p:cNvCxnSpPr>
            <a:cxnSpLocks/>
            <a:stCxn id="109" idx="3"/>
          </p:cNvCxnSpPr>
          <p:nvPr/>
        </p:nvCxnSpPr>
        <p:spPr>
          <a:xfrm flipV="1">
            <a:off x="6318606" y="4124813"/>
            <a:ext cx="1063339" cy="5315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FDFF956E-4DF2-4B5A-86ED-3C815FD7BBC1}"/>
              </a:ext>
            </a:extLst>
          </p:cNvPr>
          <p:cNvSpPr/>
          <p:nvPr/>
        </p:nvSpPr>
        <p:spPr>
          <a:xfrm>
            <a:off x="7249384" y="3639986"/>
            <a:ext cx="15263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Moore’s FSM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/>
        </p:nvSpPr>
        <p:spPr>
          <a:xfrm>
            <a:off x="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Hardware Engineering Lab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5" name="Google Shape;115;p19"/>
          <p:cNvSpPr txBox="1"/>
          <p:nvPr/>
        </p:nvSpPr>
        <p:spPr>
          <a:xfrm>
            <a:off x="748110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Summer Term 2025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6" name="Google Shape;116;p19"/>
          <p:cNvSpPr txBox="1"/>
          <p:nvPr/>
        </p:nvSpPr>
        <p:spPr>
          <a:xfrm>
            <a:off x="3783275" y="487740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GB" sz="800" dirty="0">
                <a:solidFill>
                  <a:schemeClr val="dk2"/>
                </a:solidFill>
              </a:rPr>
              <a:t>Page 7 : presenter Leano</a:t>
            </a:r>
            <a:endParaRPr sz="800" dirty="0">
              <a:solidFill>
                <a:schemeClr val="dk2"/>
              </a:solidFill>
            </a:endParaRPr>
          </a:p>
        </p:txBody>
      </p:sp>
      <p:sp>
        <p:nvSpPr>
          <p:cNvPr id="117" name="Google Shape;117;p19"/>
          <p:cNvSpPr txBox="1">
            <a:spLocks noGrp="1"/>
          </p:cNvSpPr>
          <p:nvPr>
            <p:ph type="title"/>
          </p:nvPr>
        </p:nvSpPr>
        <p:spPr>
          <a:xfrm>
            <a:off x="46725" y="2661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 dirty="0"/>
              <a:t>VHDL Code Implementations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FSM_Controller.vhd</a:t>
            </a:r>
            <a:r>
              <a:rPr lang="en-GB" dirty="0"/>
              <a:t>			Part 3_Process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18" name="Google Shape;118;p19"/>
          <p:cNvPicPr preferRelativeResize="0"/>
          <p:nvPr/>
        </p:nvPicPr>
        <p:blipFill rotWithShape="1">
          <a:blip r:embed="rId3">
            <a:alphaModFix/>
          </a:blip>
          <a:srcRect b="13449"/>
          <a:stretch/>
        </p:blipFill>
        <p:spPr>
          <a:xfrm>
            <a:off x="160575" y="1361975"/>
            <a:ext cx="3812844" cy="36583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9" name="Google Shape;119;p19"/>
          <p:cNvGrpSpPr/>
          <p:nvPr/>
        </p:nvGrpSpPr>
        <p:grpSpPr>
          <a:xfrm>
            <a:off x="4093318" y="2287849"/>
            <a:ext cx="4622417" cy="2425671"/>
            <a:chOff x="4239975" y="2062326"/>
            <a:chExt cx="4798025" cy="2517824"/>
          </a:xfrm>
        </p:grpSpPr>
        <p:pic>
          <p:nvPicPr>
            <p:cNvPr id="120" name="Google Shape;120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239975" y="2652600"/>
              <a:ext cx="4798025" cy="1927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" name="Google Shape;121;p19"/>
            <p:cNvPicPr preferRelativeResize="0"/>
            <p:nvPr/>
          </p:nvPicPr>
          <p:blipFill rotWithShape="1">
            <a:blip r:embed="rId3">
              <a:alphaModFix/>
            </a:blip>
            <a:srcRect t="86546"/>
            <a:stretch/>
          </p:blipFill>
          <p:spPr>
            <a:xfrm>
              <a:off x="4239975" y="2062326"/>
              <a:ext cx="3957700" cy="5902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/>
        </p:nvSpPr>
        <p:spPr>
          <a:xfrm>
            <a:off x="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Hardware Engineering Lab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27" name="Google Shape;127;p20"/>
          <p:cNvSpPr txBox="1"/>
          <p:nvPr/>
        </p:nvSpPr>
        <p:spPr>
          <a:xfrm>
            <a:off x="748110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Summer Term 2025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28" name="Google Shape;128;p20"/>
          <p:cNvSpPr txBox="1"/>
          <p:nvPr/>
        </p:nvSpPr>
        <p:spPr>
          <a:xfrm>
            <a:off x="3783275" y="487740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GB" sz="800" dirty="0">
                <a:solidFill>
                  <a:schemeClr val="dk2"/>
                </a:solidFill>
              </a:rPr>
              <a:t>Page 8 : presenter Leano</a:t>
            </a:r>
            <a:endParaRPr sz="800" dirty="0">
              <a:solidFill>
                <a:schemeClr val="dk2"/>
              </a:solidFill>
            </a:endParaRPr>
          </a:p>
        </p:txBody>
      </p:sp>
      <p:sp>
        <p:nvSpPr>
          <p:cNvPr id="129" name="Google Shape;129;p20"/>
          <p:cNvSpPr txBox="1">
            <a:spLocks noGrp="1"/>
          </p:cNvSpPr>
          <p:nvPr>
            <p:ph type="title"/>
          </p:nvPr>
        </p:nvSpPr>
        <p:spPr>
          <a:xfrm>
            <a:off x="46725" y="2661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VHDL Code Implementations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Coin_Handler.vhd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0" name="Google Shape;130;p20" title="Coin_Handl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0900" y="980675"/>
            <a:ext cx="3206426" cy="3953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/>
        </p:nvSpPr>
        <p:spPr>
          <a:xfrm>
            <a:off x="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Hardware Engineering Lab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36" name="Google Shape;136;p21"/>
          <p:cNvSpPr txBox="1"/>
          <p:nvPr/>
        </p:nvSpPr>
        <p:spPr>
          <a:xfrm>
            <a:off x="748110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Summer Term 2025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37" name="Google Shape;137;p21"/>
          <p:cNvSpPr txBox="1"/>
          <p:nvPr/>
        </p:nvSpPr>
        <p:spPr>
          <a:xfrm>
            <a:off x="3783275" y="487740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GB" sz="800" dirty="0">
                <a:solidFill>
                  <a:schemeClr val="dk2"/>
                </a:solidFill>
              </a:rPr>
              <a:t>Page 9 : presenter Leano</a:t>
            </a:r>
            <a:endParaRPr sz="800" dirty="0">
              <a:solidFill>
                <a:schemeClr val="dk2"/>
              </a:solidFill>
            </a:endParaRPr>
          </a:p>
        </p:txBody>
      </p:sp>
      <p:sp>
        <p:nvSpPr>
          <p:cNvPr id="138" name="Google Shape;138;p21"/>
          <p:cNvSpPr txBox="1">
            <a:spLocks noGrp="1"/>
          </p:cNvSpPr>
          <p:nvPr>
            <p:ph type="title"/>
          </p:nvPr>
        </p:nvSpPr>
        <p:spPr>
          <a:xfrm>
            <a:off x="46725" y="2661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VHDL Code Implementations</a:t>
            </a:r>
            <a:endParaRPr/>
          </a:p>
          <a:p>
            <a:pPr marL="365760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Display_Manager.vhd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9" name="Google Shape;139;p21" title="Display_Manager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225" y="898550"/>
            <a:ext cx="3670950" cy="4120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4575" y="1794700"/>
            <a:ext cx="3641450" cy="314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Verification with Test Benches_Results:FSM_Controller</a:t>
            </a:r>
            <a:endParaRPr/>
          </a:p>
        </p:txBody>
      </p:sp>
      <p:sp>
        <p:nvSpPr>
          <p:cNvPr id="146" name="Google Shape;146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Test Cases: </a:t>
            </a:r>
            <a:endParaRPr dirty="0"/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 dirty="0">
                <a:solidFill>
                  <a:schemeClr val="dk1"/>
                </a:solidFill>
              </a:rPr>
              <a:t>Test case 1: Check if the state transitions from IDLE to DISPLAY when the BTNC is pressed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 dirty="0">
                <a:solidFill>
                  <a:schemeClr val="dk1"/>
                </a:solidFill>
              </a:rPr>
              <a:t>Test case 2: Check if the state transitions from DISPLAY to INSERT when no switch is selected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 dirty="0">
                <a:solidFill>
                  <a:schemeClr val="dk1"/>
                </a:solidFill>
              </a:rPr>
              <a:t>Test case 3: Check if the state transitions from DISPLAY to INSERT when switch 1 is selected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 dirty="0">
                <a:solidFill>
                  <a:schemeClr val="dk1"/>
                </a:solidFill>
              </a:rPr>
              <a:t>Test case 4: Check if the state transitions from INSERT to DISPENSE when inserted amount is lower than the price of the item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 dirty="0">
                <a:solidFill>
                  <a:schemeClr val="dk1"/>
                </a:solidFill>
              </a:rPr>
              <a:t>Test case 5: Check if the state transitions from INSERT to DISPENSE when inserted amount is greater or equal to the price of the item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 dirty="0">
                <a:solidFill>
                  <a:schemeClr val="dk1"/>
                </a:solidFill>
              </a:rPr>
              <a:t>Test case 6: Check if the state transitions from DISPENSE to IDLE when a switch is still on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 dirty="0">
                <a:solidFill>
                  <a:schemeClr val="dk1"/>
                </a:solidFill>
              </a:rPr>
              <a:t>Test case 7: Check if the state transitions from DISPENSE to IDLE when a switch is finally off. 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 dirty="0">
                <a:solidFill>
                  <a:schemeClr val="dk1"/>
                </a:solidFill>
              </a:rPr>
              <a:t>Test case 8: Check if the state transitions from IDLE to DISPLAY when the BTNC is pressed.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 dirty="0">
                <a:solidFill>
                  <a:schemeClr val="dk1"/>
                </a:solidFill>
              </a:rPr>
              <a:t>Test case 9: Check if the item 1 is displayed correctly if the SW(0) is on. (</a:t>
            </a:r>
            <a:r>
              <a:rPr lang="en-GB" sz="1100" dirty="0" err="1">
                <a:solidFill>
                  <a:schemeClr val="dk1"/>
                </a:solidFill>
              </a:rPr>
              <a:t>SW_tb</a:t>
            </a:r>
            <a:r>
              <a:rPr lang="en-GB" sz="1100" dirty="0">
                <a:solidFill>
                  <a:schemeClr val="dk1"/>
                </a:solidFill>
              </a:rPr>
              <a:t> = “001”) 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 dirty="0">
                <a:solidFill>
                  <a:schemeClr val="dk1"/>
                </a:solidFill>
              </a:rPr>
              <a:t>Test case 10: Check if the item 2 is displayed correctly if the SW(1) is on. (</a:t>
            </a:r>
            <a:r>
              <a:rPr lang="en-GB" sz="1100" dirty="0" err="1">
                <a:solidFill>
                  <a:schemeClr val="dk1"/>
                </a:solidFill>
              </a:rPr>
              <a:t>SW_tb</a:t>
            </a:r>
            <a:r>
              <a:rPr lang="en-GB" sz="1100" dirty="0">
                <a:solidFill>
                  <a:schemeClr val="dk1"/>
                </a:solidFill>
              </a:rPr>
              <a:t> = “010”) 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 dirty="0">
                <a:solidFill>
                  <a:schemeClr val="dk1"/>
                </a:solidFill>
              </a:rPr>
              <a:t>Test case 11:  Check if the item 3 is displayed correctly if the SW(2) is on. (</a:t>
            </a:r>
            <a:r>
              <a:rPr lang="en-GB" sz="1100" dirty="0" err="1">
                <a:solidFill>
                  <a:schemeClr val="dk1"/>
                </a:solidFill>
              </a:rPr>
              <a:t>SW_tb</a:t>
            </a:r>
            <a:r>
              <a:rPr lang="en-GB" sz="1100" dirty="0">
                <a:solidFill>
                  <a:schemeClr val="dk1"/>
                </a:solidFill>
              </a:rPr>
              <a:t> = “100”) 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 dirty="0">
                <a:solidFill>
                  <a:schemeClr val="dk1"/>
                </a:solidFill>
              </a:rPr>
              <a:t>Test case 12: Check if the inserted amount (50) is correctly being displayed on the right 4 digits of 7 segment display.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 dirty="0">
                <a:solidFill>
                  <a:schemeClr val="dk1"/>
                </a:solidFill>
              </a:rPr>
              <a:t>Test case 13: Check if the inserted amount (150) allows state transition to DISPENSE and the correct change is displayed on the 7 segment display.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 dirty="0">
                <a:solidFill>
                  <a:schemeClr val="dk1"/>
                </a:solidFill>
              </a:rPr>
              <a:t>Test case 14: Check if the state transitions from DISPENSE to IDLE when a switch is still on. 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 dirty="0">
                <a:solidFill>
                  <a:schemeClr val="dk1"/>
                </a:solidFill>
              </a:rPr>
              <a:t>Test case 15: Check if the state transitions from DISPENSE to IDLE when the switch is finally off. 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147" name="Google Shape;147;p22"/>
          <p:cNvSpPr txBox="1"/>
          <p:nvPr/>
        </p:nvSpPr>
        <p:spPr>
          <a:xfrm>
            <a:off x="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Hardware Engineering Lab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48" name="Google Shape;148;p22"/>
          <p:cNvSpPr txBox="1"/>
          <p:nvPr/>
        </p:nvSpPr>
        <p:spPr>
          <a:xfrm>
            <a:off x="748110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Summer Term 2025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49" name="Google Shape;149;p22"/>
          <p:cNvSpPr txBox="1"/>
          <p:nvPr/>
        </p:nvSpPr>
        <p:spPr>
          <a:xfrm>
            <a:off x="3783275" y="487740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GB" sz="800" dirty="0">
                <a:solidFill>
                  <a:schemeClr val="dk2"/>
                </a:solidFill>
              </a:rPr>
              <a:t>Page 10 : presenter Choi</a:t>
            </a:r>
            <a:endParaRPr sz="800" dirty="0">
              <a:solidFill>
                <a:schemeClr val="dk2"/>
              </a:solidFill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8D25C1D-D122-41D3-938E-4718B5434406}"/>
              </a:ext>
            </a:extLst>
          </p:cNvPr>
          <p:cNvCxnSpPr/>
          <p:nvPr/>
        </p:nvCxnSpPr>
        <p:spPr>
          <a:xfrm flipV="1">
            <a:off x="6747872" y="1208076"/>
            <a:ext cx="733228" cy="24895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91854E97-51C4-430F-AB7B-246131B8C531}"/>
              </a:ext>
            </a:extLst>
          </p:cNvPr>
          <p:cNvSpPr/>
          <p:nvPr/>
        </p:nvSpPr>
        <p:spPr>
          <a:xfrm>
            <a:off x="6868940" y="755343"/>
            <a:ext cx="18277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One hot coding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>
            <a:spLocks noGrp="1"/>
          </p:cNvSpPr>
          <p:nvPr>
            <p:ph type="title"/>
          </p:nvPr>
        </p:nvSpPr>
        <p:spPr>
          <a:xfrm>
            <a:off x="311700" y="33398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Test </a:t>
            </a:r>
            <a:r>
              <a:rPr lang="en-GB" dirty="0" err="1"/>
              <a:t>Benches_Results:FSM_Controller</a:t>
            </a:r>
            <a:endParaRPr dirty="0"/>
          </a:p>
        </p:txBody>
      </p:sp>
      <p:sp>
        <p:nvSpPr>
          <p:cNvPr id="155" name="Google Shape;155;p2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56" name="Google Shape;156;p23"/>
          <p:cNvSpPr txBox="1"/>
          <p:nvPr/>
        </p:nvSpPr>
        <p:spPr>
          <a:xfrm>
            <a:off x="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Hardware Engineering Lab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7" name="Google Shape;157;p23"/>
          <p:cNvSpPr txBox="1"/>
          <p:nvPr/>
        </p:nvSpPr>
        <p:spPr>
          <a:xfrm>
            <a:off x="748110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Summer Term 2025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8" name="Google Shape;158;p23"/>
          <p:cNvSpPr txBox="1"/>
          <p:nvPr/>
        </p:nvSpPr>
        <p:spPr>
          <a:xfrm>
            <a:off x="3783275" y="487740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Page 10</a:t>
            </a:r>
            <a:endParaRPr sz="800">
              <a:solidFill>
                <a:schemeClr val="dk2"/>
              </a:solidFill>
            </a:endParaRPr>
          </a:p>
        </p:txBody>
      </p:sp>
      <p:pic>
        <p:nvPicPr>
          <p:cNvPr id="159" name="Google Shape;159;p23" title="FSM_Controller Test Bench Resul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14781"/>
            <a:ext cx="9144000" cy="4186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Verification with Test Benches_Results:Coin_Handler</a:t>
            </a:r>
            <a:endParaRPr/>
          </a:p>
        </p:txBody>
      </p:sp>
      <p:sp>
        <p:nvSpPr>
          <p:cNvPr id="168" name="Google Shape;168;p2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Test Cases: </a:t>
            </a:r>
            <a:endParaRPr dirty="0"/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 dirty="0">
                <a:solidFill>
                  <a:schemeClr val="dk1"/>
                </a:solidFill>
              </a:rPr>
              <a:t>‘01234567’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 dirty="0">
                <a:solidFill>
                  <a:schemeClr val="dk1"/>
                </a:solidFill>
              </a:rPr>
              <a:t>‘89 </a:t>
            </a:r>
            <a:r>
              <a:rPr lang="en-GB" sz="1100" dirty="0" err="1">
                <a:solidFill>
                  <a:schemeClr val="dk1"/>
                </a:solidFill>
              </a:rPr>
              <a:t>AEObc</a:t>
            </a:r>
            <a:r>
              <a:rPr lang="en-GB" sz="1100" dirty="0">
                <a:solidFill>
                  <a:schemeClr val="dk1"/>
                </a:solidFill>
              </a:rPr>
              <a:t>’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 dirty="0">
                <a:solidFill>
                  <a:schemeClr val="dk1"/>
                </a:solidFill>
              </a:rPr>
              <a:t>‘</a:t>
            </a:r>
            <a:r>
              <a:rPr lang="en-GB" sz="1100" dirty="0" err="1">
                <a:solidFill>
                  <a:schemeClr val="dk1"/>
                </a:solidFill>
              </a:rPr>
              <a:t>ghlor</a:t>
            </a:r>
            <a:r>
              <a:rPr lang="en-GB" sz="1100" dirty="0">
                <a:solidFill>
                  <a:schemeClr val="dk1"/>
                </a:solidFill>
              </a:rPr>
              <a:t>   ’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 dirty="0">
                <a:solidFill>
                  <a:schemeClr val="dk1"/>
                </a:solidFill>
              </a:rPr>
              <a:t>‘colA0130’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 dirty="0">
                <a:solidFill>
                  <a:schemeClr val="dk1"/>
                </a:solidFill>
              </a:rPr>
              <a:t>‘bEEr0150’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 dirty="0">
                <a:solidFill>
                  <a:schemeClr val="dk1"/>
                </a:solidFill>
              </a:rPr>
              <a:t>‘h2o 0090’</a:t>
            </a:r>
            <a:endParaRPr dirty="0"/>
          </a:p>
        </p:txBody>
      </p:sp>
      <p:sp>
        <p:nvSpPr>
          <p:cNvPr id="165" name="Google Shape;165;p24"/>
          <p:cNvSpPr txBox="1"/>
          <p:nvPr/>
        </p:nvSpPr>
        <p:spPr>
          <a:xfrm>
            <a:off x="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Hardware Engineering Lab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66" name="Google Shape;166;p24"/>
          <p:cNvSpPr txBox="1"/>
          <p:nvPr/>
        </p:nvSpPr>
        <p:spPr>
          <a:xfrm>
            <a:off x="748110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Summer Term 2025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67" name="Google Shape;167;p24"/>
          <p:cNvSpPr txBox="1"/>
          <p:nvPr/>
        </p:nvSpPr>
        <p:spPr>
          <a:xfrm>
            <a:off x="3783275" y="487740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GB" sz="800" dirty="0">
                <a:solidFill>
                  <a:schemeClr val="dk2"/>
                </a:solidFill>
              </a:rPr>
              <a:t>Page 12 : presenter Choi</a:t>
            </a:r>
            <a:endParaRPr sz="8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/>
          <p:cNvSpPr txBox="1">
            <a:spLocks noGrp="1"/>
          </p:cNvSpPr>
          <p:nvPr>
            <p:ph type="title"/>
          </p:nvPr>
        </p:nvSpPr>
        <p:spPr>
          <a:xfrm>
            <a:off x="311700" y="3845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Test </a:t>
            </a:r>
            <a:r>
              <a:rPr lang="en-GB" dirty="0" err="1"/>
              <a:t>Benches_Results:Coin_Handler</a:t>
            </a:r>
            <a:endParaRPr dirty="0"/>
          </a:p>
        </p:txBody>
      </p:sp>
      <p:sp>
        <p:nvSpPr>
          <p:cNvPr id="174" name="Google Shape;174;p25"/>
          <p:cNvSpPr txBox="1"/>
          <p:nvPr/>
        </p:nvSpPr>
        <p:spPr>
          <a:xfrm>
            <a:off x="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Hardware Engineering Lab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75" name="Google Shape;175;p25"/>
          <p:cNvSpPr txBox="1"/>
          <p:nvPr/>
        </p:nvSpPr>
        <p:spPr>
          <a:xfrm>
            <a:off x="748110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Summer Term 2025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76" name="Google Shape;176;p25"/>
          <p:cNvSpPr txBox="1"/>
          <p:nvPr/>
        </p:nvSpPr>
        <p:spPr>
          <a:xfrm>
            <a:off x="3783275" y="487740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Page 11</a:t>
            </a:r>
            <a:endParaRPr sz="800">
              <a:solidFill>
                <a:schemeClr val="dk2"/>
              </a:solidFill>
            </a:endParaRPr>
          </a:p>
        </p:txBody>
      </p:sp>
      <p:pic>
        <p:nvPicPr>
          <p:cNvPr id="177" name="Google Shape;177;p25" title="Coin_Handler Test Bench Resul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57256"/>
            <a:ext cx="9144000" cy="4186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Verification with Test Benches_Results:Display_Manager</a:t>
            </a:r>
            <a:endParaRPr/>
          </a:p>
        </p:txBody>
      </p:sp>
      <p:sp>
        <p:nvSpPr>
          <p:cNvPr id="183" name="Google Shape;183;p2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Test Cases: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 dirty="0">
                <a:solidFill>
                  <a:schemeClr val="dk1"/>
                </a:solidFill>
              </a:rPr>
              <a:t>Insert 10 cents and see if the inserted amount is 10 cents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 dirty="0">
                <a:solidFill>
                  <a:schemeClr val="dk1"/>
                </a:solidFill>
              </a:rPr>
              <a:t>Insert 20 cents and see if the inserted amount is 30 cents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 dirty="0">
                <a:solidFill>
                  <a:schemeClr val="dk1"/>
                </a:solidFill>
              </a:rPr>
              <a:t>Insert 50 cents and see if the inserted amount is 80 cents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 dirty="0">
                <a:solidFill>
                  <a:schemeClr val="dk1"/>
                </a:solidFill>
              </a:rPr>
              <a:t>Insert 100 cents = 1 euro and see if the inserted amount is 180 cents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 dirty="0">
                <a:solidFill>
                  <a:schemeClr val="dk1"/>
                </a:solidFill>
              </a:rPr>
              <a:t>Reset the test</a:t>
            </a:r>
            <a:endParaRPr dirty="0"/>
          </a:p>
        </p:txBody>
      </p:sp>
      <p:sp>
        <p:nvSpPr>
          <p:cNvPr id="184" name="Google Shape;184;p26"/>
          <p:cNvSpPr txBox="1"/>
          <p:nvPr/>
        </p:nvSpPr>
        <p:spPr>
          <a:xfrm>
            <a:off x="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Hardware Engineering Lab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85" name="Google Shape;185;p26"/>
          <p:cNvSpPr txBox="1"/>
          <p:nvPr/>
        </p:nvSpPr>
        <p:spPr>
          <a:xfrm>
            <a:off x="748110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Summer Term 2025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86" name="Google Shape;186;p26"/>
          <p:cNvSpPr txBox="1"/>
          <p:nvPr/>
        </p:nvSpPr>
        <p:spPr>
          <a:xfrm>
            <a:off x="3783275" y="487740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GB" sz="800" dirty="0">
                <a:solidFill>
                  <a:schemeClr val="dk2"/>
                </a:solidFill>
              </a:rPr>
              <a:t>Page 14 : presenter Choi</a:t>
            </a:r>
            <a:endParaRPr sz="8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 txBox="1">
            <a:spLocks noGrp="1"/>
          </p:cNvSpPr>
          <p:nvPr>
            <p:ph type="title"/>
          </p:nvPr>
        </p:nvSpPr>
        <p:spPr>
          <a:xfrm>
            <a:off x="311700" y="425513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Test </a:t>
            </a:r>
            <a:r>
              <a:rPr lang="en-GB" dirty="0" err="1"/>
              <a:t>Benches_Results:Display_Manager</a:t>
            </a:r>
            <a:endParaRPr dirty="0"/>
          </a:p>
        </p:txBody>
      </p:sp>
      <p:sp>
        <p:nvSpPr>
          <p:cNvPr id="192" name="Google Shape;192;p2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93" name="Google Shape;193;p27"/>
          <p:cNvSpPr txBox="1"/>
          <p:nvPr/>
        </p:nvSpPr>
        <p:spPr>
          <a:xfrm>
            <a:off x="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Hardware Engineering Lab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94" name="Google Shape;194;p27"/>
          <p:cNvSpPr txBox="1"/>
          <p:nvPr/>
        </p:nvSpPr>
        <p:spPr>
          <a:xfrm>
            <a:off x="748110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Summer Term 2025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95" name="Google Shape;195;p27"/>
          <p:cNvSpPr txBox="1"/>
          <p:nvPr/>
        </p:nvSpPr>
        <p:spPr>
          <a:xfrm>
            <a:off x="3783275" y="487740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Page 12</a:t>
            </a:r>
            <a:endParaRPr sz="800">
              <a:solidFill>
                <a:schemeClr val="dk2"/>
              </a:solidFill>
            </a:endParaRPr>
          </a:p>
        </p:txBody>
      </p:sp>
      <p:pic>
        <p:nvPicPr>
          <p:cNvPr id="196" name="Google Shape;196;p27" title="Display_Manager Test Bench Resul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81801"/>
            <a:ext cx="9144002" cy="4061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FPGA Implementations_constraint file</a:t>
            </a:r>
            <a:endParaRPr/>
          </a:p>
        </p:txBody>
      </p:sp>
      <p:sp>
        <p:nvSpPr>
          <p:cNvPr id="202" name="Google Shape;202;p28"/>
          <p:cNvSpPr txBox="1"/>
          <p:nvPr/>
        </p:nvSpPr>
        <p:spPr>
          <a:xfrm>
            <a:off x="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Hardware Engineering Lab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03" name="Google Shape;203;p28"/>
          <p:cNvSpPr txBox="1"/>
          <p:nvPr/>
        </p:nvSpPr>
        <p:spPr>
          <a:xfrm>
            <a:off x="748110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Summer Term 2025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04" name="Google Shape;204;p28"/>
          <p:cNvSpPr txBox="1"/>
          <p:nvPr/>
        </p:nvSpPr>
        <p:spPr>
          <a:xfrm>
            <a:off x="3783275" y="487740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GB" sz="800" dirty="0">
                <a:solidFill>
                  <a:schemeClr val="dk2"/>
                </a:solidFill>
              </a:rPr>
              <a:t>Page 16 : presenter Leano</a:t>
            </a:r>
            <a:endParaRPr sz="800" dirty="0">
              <a:solidFill>
                <a:schemeClr val="dk2"/>
              </a:solidFill>
            </a:endParaRPr>
          </a:p>
        </p:txBody>
      </p:sp>
      <p:pic>
        <p:nvPicPr>
          <p:cNvPr id="205" name="Google Shape;205;p28"/>
          <p:cNvPicPr preferRelativeResize="0"/>
          <p:nvPr/>
        </p:nvPicPr>
        <p:blipFill rotWithShape="1">
          <a:blip r:embed="rId3">
            <a:alphaModFix/>
          </a:blip>
          <a:srcRect b="46033"/>
          <a:stretch/>
        </p:blipFill>
        <p:spPr>
          <a:xfrm>
            <a:off x="184925" y="1196650"/>
            <a:ext cx="4612550" cy="3694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8"/>
          <p:cNvPicPr preferRelativeResize="0"/>
          <p:nvPr/>
        </p:nvPicPr>
        <p:blipFill rotWithShape="1">
          <a:blip r:embed="rId3">
            <a:alphaModFix/>
          </a:blip>
          <a:srcRect t="53445"/>
          <a:stretch/>
        </p:blipFill>
        <p:spPr>
          <a:xfrm>
            <a:off x="4355025" y="1690109"/>
            <a:ext cx="4612550" cy="31872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FPGA Simulations</a:t>
            </a:r>
            <a:endParaRPr/>
          </a:p>
        </p:txBody>
      </p:sp>
      <p:sp>
        <p:nvSpPr>
          <p:cNvPr id="212" name="Google Shape;212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dirty="0"/>
              <a:t>		         Videos</a:t>
            </a:r>
            <a:endParaRPr dirty="0"/>
          </a:p>
        </p:txBody>
      </p:sp>
      <p:sp>
        <p:nvSpPr>
          <p:cNvPr id="216" name="Google Shape;216;p29"/>
          <p:cNvSpPr txBox="1">
            <a:spLocks noGrp="1"/>
          </p:cNvSpPr>
          <p:nvPr>
            <p:ph type="body" idx="4294967295"/>
          </p:nvPr>
        </p:nvSpPr>
        <p:spPr>
          <a:xfrm>
            <a:off x="4883150" y="1196975"/>
            <a:ext cx="4260850" cy="34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dirty="0"/>
              <a:t>Simulation in Real Time</a:t>
            </a:r>
            <a:endParaRPr dirty="0"/>
          </a:p>
        </p:txBody>
      </p:sp>
      <p:sp>
        <p:nvSpPr>
          <p:cNvPr id="213" name="Google Shape;213;p29"/>
          <p:cNvSpPr txBox="1"/>
          <p:nvPr/>
        </p:nvSpPr>
        <p:spPr>
          <a:xfrm>
            <a:off x="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Hardware Engineering Lab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14" name="Google Shape;214;p29"/>
          <p:cNvSpPr txBox="1"/>
          <p:nvPr/>
        </p:nvSpPr>
        <p:spPr>
          <a:xfrm>
            <a:off x="748110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Summer Term 2025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15" name="Google Shape;215;p29"/>
          <p:cNvSpPr txBox="1"/>
          <p:nvPr/>
        </p:nvSpPr>
        <p:spPr>
          <a:xfrm>
            <a:off x="3783275" y="487740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GB" sz="800" dirty="0">
                <a:solidFill>
                  <a:schemeClr val="dk2"/>
                </a:solidFill>
              </a:rPr>
              <a:t>Page 17 : presenter Leano</a:t>
            </a:r>
            <a:endParaRPr sz="800" dirty="0">
              <a:solidFill>
                <a:schemeClr val="dk2"/>
              </a:solidFill>
            </a:endParaRPr>
          </a:p>
        </p:txBody>
      </p:sp>
      <p:pic>
        <p:nvPicPr>
          <p:cNvPr id="217" name="Google Shape;217;p29" title="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288" y="1612663"/>
            <a:ext cx="3948433" cy="300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PCB Prototyping</a:t>
            </a:r>
            <a:endParaRPr/>
          </a:p>
        </p:txBody>
      </p:sp>
      <p:sp>
        <p:nvSpPr>
          <p:cNvPr id="223" name="Google Shape;223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28465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buNone/>
            </a:pPr>
            <a:r>
              <a:rPr lang="en-US" dirty="0"/>
              <a:t>PCB Prototyping is a process of designing printed circuit boards in which we electrically connect electronic components. Some known process of PCB Prototype</a:t>
            </a:r>
            <a:r>
              <a:rPr lang="en-GB" dirty="0"/>
              <a:t> </a:t>
            </a:r>
            <a:endParaRPr dirty="0"/>
          </a:p>
          <a:p>
            <a:pPr marL="457200" lvl="0" indent="-325755" algn="just" rtl="0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-GB" dirty="0"/>
              <a:t>Find requirement according the target group or client </a:t>
            </a:r>
            <a:endParaRPr dirty="0"/>
          </a:p>
          <a:p>
            <a:pPr marL="457200" lvl="0" indent="-325755" algn="just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 dirty="0"/>
              <a:t>Select the design tools</a:t>
            </a:r>
            <a:endParaRPr dirty="0"/>
          </a:p>
          <a:p>
            <a:pPr marL="457200" lvl="0" indent="-325755" algn="just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 dirty="0"/>
              <a:t>Schematics drawing</a:t>
            </a:r>
            <a:endParaRPr dirty="0"/>
          </a:p>
          <a:p>
            <a:pPr marL="457200" lvl="0" indent="-325755" algn="just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 dirty="0"/>
              <a:t>Components placements</a:t>
            </a:r>
            <a:endParaRPr dirty="0"/>
          </a:p>
          <a:p>
            <a:pPr marL="457200" lvl="0" indent="-325755" algn="just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 dirty="0"/>
              <a:t>Routing </a:t>
            </a:r>
            <a:endParaRPr dirty="0"/>
          </a:p>
          <a:p>
            <a:pPr marL="457200" lvl="0" indent="-325755" algn="just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 dirty="0"/>
              <a:t>Design Rules Check</a:t>
            </a:r>
            <a:endParaRPr dirty="0"/>
          </a:p>
          <a:p>
            <a:pPr marL="457200" lvl="0" indent="-325755" algn="just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 dirty="0"/>
              <a:t>Gerber file generation </a:t>
            </a:r>
            <a:endParaRPr dirty="0"/>
          </a:p>
          <a:p>
            <a:pPr marL="457200" lvl="0" indent="-325755" algn="just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 dirty="0"/>
              <a:t>Simulation and testing </a:t>
            </a:r>
            <a:endParaRPr dirty="0"/>
          </a:p>
          <a:p>
            <a:pPr marL="457200" lvl="0" indent="-325755" algn="just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 dirty="0"/>
              <a:t>Prototyping </a:t>
            </a:r>
            <a:endParaRPr dirty="0"/>
          </a:p>
          <a:p>
            <a:pPr marL="457200" lvl="0" indent="-325755" algn="just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 dirty="0"/>
              <a:t>Final production </a:t>
            </a:r>
          </a:p>
        </p:txBody>
      </p:sp>
      <p:sp>
        <p:nvSpPr>
          <p:cNvPr id="224" name="Google Shape;224;p30"/>
          <p:cNvSpPr txBox="1"/>
          <p:nvPr/>
        </p:nvSpPr>
        <p:spPr>
          <a:xfrm>
            <a:off x="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Hardware Engineering Lab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25" name="Google Shape;225;p30"/>
          <p:cNvSpPr txBox="1"/>
          <p:nvPr/>
        </p:nvSpPr>
        <p:spPr>
          <a:xfrm>
            <a:off x="748110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Summer Term 2025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26" name="Google Shape;226;p30"/>
          <p:cNvSpPr txBox="1"/>
          <p:nvPr/>
        </p:nvSpPr>
        <p:spPr>
          <a:xfrm>
            <a:off x="3783275" y="487740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GB" sz="800" dirty="0">
                <a:solidFill>
                  <a:schemeClr val="dk2"/>
                </a:solidFill>
              </a:rPr>
              <a:t>Page 18 : presenter Emaan</a:t>
            </a:r>
            <a:endParaRPr sz="800" dirty="0">
              <a:solidFill>
                <a:schemeClr val="dk2"/>
              </a:solidFill>
            </a:endParaRPr>
          </a:p>
        </p:txBody>
      </p:sp>
      <p:pic>
        <p:nvPicPr>
          <p:cNvPr id="227" name="Google Shape;22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1125" y="1681962"/>
            <a:ext cx="3041175" cy="304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PCB Prototyping</a:t>
            </a:r>
            <a:endParaRPr/>
          </a:p>
        </p:txBody>
      </p:sp>
      <p:sp>
        <p:nvSpPr>
          <p:cNvPr id="233" name="Google Shape;233;p31"/>
          <p:cNvSpPr txBox="1">
            <a:spLocks noGrp="1"/>
          </p:cNvSpPr>
          <p:nvPr>
            <p:ph type="body" idx="1"/>
          </p:nvPr>
        </p:nvSpPr>
        <p:spPr>
          <a:xfrm>
            <a:off x="311699" y="1152475"/>
            <a:ext cx="3600061" cy="34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chemeClr val="dk1"/>
                </a:solidFill>
              </a:rPr>
              <a:t>After discussion and deep analysis we select these elements for our PCB 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Two 7 segment display</a:t>
            </a:r>
          </a:p>
          <a:p>
            <a:pPr marL="45720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Power supply</a:t>
            </a: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Resistors and Capacitors</a:t>
            </a: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Central component is the Nexus A7 </a:t>
            </a:r>
            <a:r>
              <a:rPr lang="en-GB" sz="1100" i="1" dirty="0">
                <a:solidFill>
                  <a:schemeClr val="dk1"/>
                </a:solidFill>
              </a:rPr>
              <a:t>XC7A100T </a:t>
            </a:r>
            <a:r>
              <a:rPr lang="en-GB" sz="1100" dirty="0">
                <a:solidFill>
                  <a:schemeClr val="dk1"/>
                </a:solidFill>
              </a:rPr>
              <a:t>FPGA, handling all control logic and I/O</a:t>
            </a: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Connected to multiple push buttons for item selection and user interaction.</a:t>
            </a: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 dirty="0">
                <a:solidFill>
                  <a:schemeClr val="dk1"/>
                </a:solidFill>
              </a:rPr>
              <a:t>PNP and NPN transistors control outputs like relays or motors, acting as switches via FPGA signals.</a:t>
            </a:r>
            <a:endParaRPr sz="1100" b="1" dirty="0">
              <a:solidFill>
                <a:schemeClr val="dk1"/>
              </a:solidFill>
            </a:endParaRPr>
          </a:p>
        </p:txBody>
      </p:sp>
      <p:pic>
        <p:nvPicPr>
          <p:cNvPr id="234" name="Google Shape;23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8662" y="244902"/>
            <a:ext cx="4724824" cy="3003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6200000">
            <a:off x="5458361" y="3337500"/>
            <a:ext cx="1604026" cy="1741874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1"/>
          <p:cNvSpPr txBox="1"/>
          <p:nvPr/>
        </p:nvSpPr>
        <p:spPr>
          <a:xfrm>
            <a:off x="2375023" y="5568913"/>
            <a:ext cx="1121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chemeClr val="dk2"/>
                </a:solidFill>
              </a:rPr>
              <a:t>Schematics</a:t>
            </a:r>
            <a:endParaRPr sz="900" dirty="0">
              <a:solidFill>
                <a:schemeClr val="dk2"/>
              </a:solidFill>
            </a:endParaRPr>
          </a:p>
        </p:txBody>
      </p:sp>
      <p:sp>
        <p:nvSpPr>
          <p:cNvPr id="237" name="Google Shape;237;p31"/>
          <p:cNvSpPr txBox="1"/>
          <p:nvPr/>
        </p:nvSpPr>
        <p:spPr>
          <a:xfrm>
            <a:off x="7198213" y="4663801"/>
            <a:ext cx="1121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chemeClr val="dk2"/>
                </a:solidFill>
              </a:rPr>
              <a:t>3D View</a:t>
            </a:r>
            <a:endParaRPr sz="900" dirty="0">
              <a:solidFill>
                <a:schemeClr val="dk2"/>
              </a:solidFill>
            </a:endParaRPr>
          </a:p>
        </p:txBody>
      </p:sp>
      <p:sp>
        <p:nvSpPr>
          <p:cNvPr id="8" name="Google Shape;226;p30">
            <a:extLst>
              <a:ext uri="{FF2B5EF4-FFF2-40B4-BE49-F238E27FC236}">
                <a16:creationId xmlns:a16="http://schemas.microsoft.com/office/drawing/2014/main" id="{D519478A-A558-4C1D-B352-7EBEE7A18BD9}"/>
              </a:ext>
            </a:extLst>
          </p:cNvPr>
          <p:cNvSpPr txBox="1"/>
          <p:nvPr/>
        </p:nvSpPr>
        <p:spPr>
          <a:xfrm>
            <a:off x="3783275" y="487740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GB" sz="800" dirty="0">
                <a:solidFill>
                  <a:schemeClr val="dk2"/>
                </a:solidFill>
              </a:rPr>
              <a:t>Page 19 : presenter Emaan</a:t>
            </a:r>
            <a:endParaRPr sz="800" dirty="0">
              <a:solidFill>
                <a:schemeClr val="dk2"/>
              </a:solidFill>
            </a:endParaRPr>
          </a:p>
        </p:txBody>
      </p:sp>
      <p:sp>
        <p:nvSpPr>
          <p:cNvPr id="9" name="Google Shape;237;p31">
            <a:extLst>
              <a:ext uri="{FF2B5EF4-FFF2-40B4-BE49-F238E27FC236}">
                <a16:creationId xmlns:a16="http://schemas.microsoft.com/office/drawing/2014/main" id="{A1BA26F8-BAC7-4F8C-9055-DA03B8999E59}"/>
              </a:ext>
            </a:extLst>
          </p:cNvPr>
          <p:cNvSpPr txBox="1"/>
          <p:nvPr/>
        </p:nvSpPr>
        <p:spPr>
          <a:xfrm>
            <a:off x="7710600" y="3286926"/>
            <a:ext cx="1121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chemeClr val="dk2"/>
                </a:solidFill>
              </a:rPr>
              <a:t>Schematics</a:t>
            </a:r>
            <a:endParaRPr sz="900" dirty="0">
              <a:solidFill>
                <a:schemeClr val="dk2"/>
              </a:solidFill>
            </a:endParaRPr>
          </a:p>
        </p:txBody>
      </p:sp>
      <p:sp>
        <p:nvSpPr>
          <p:cNvPr id="10" name="Google Shape;224;p30">
            <a:extLst>
              <a:ext uri="{FF2B5EF4-FFF2-40B4-BE49-F238E27FC236}">
                <a16:creationId xmlns:a16="http://schemas.microsoft.com/office/drawing/2014/main" id="{D0AD3E50-2C12-4E0D-BDD9-B84D4029A6E0}"/>
              </a:ext>
            </a:extLst>
          </p:cNvPr>
          <p:cNvSpPr txBox="1"/>
          <p:nvPr/>
        </p:nvSpPr>
        <p:spPr>
          <a:xfrm>
            <a:off x="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Hardware Engineering Lab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" name="Google Shape;225;p30">
            <a:extLst>
              <a:ext uri="{FF2B5EF4-FFF2-40B4-BE49-F238E27FC236}">
                <a16:creationId xmlns:a16="http://schemas.microsoft.com/office/drawing/2014/main" id="{88E39909-C97E-4124-890B-D1E9BB53D593}"/>
              </a:ext>
            </a:extLst>
          </p:cNvPr>
          <p:cNvSpPr txBox="1"/>
          <p:nvPr/>
        </p:nvSpPr>
        <p:spPr>
          <a:xfrm>
            <a:off x="748110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Summer Term 2025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PCB Prototyping</a:t>
            </a:r>
            <a:endParaRPr/>
          </a:p>
        </p:txBody>
      </p:sp>
      <p:sp>
        <p:nvSpPr>
          <p:cNvPr id="243" name="Google Shape;243;p32"/>
          <p:cNvSpPr txBox="1">
            <a:spLocks noGrp="1"/>
          </p:cNvSpPr>
          <p:nvPr>
            <p:ph type="body" idx="1"/>
          </p:nvPr>
        </p:nvSpPr>
        <p:spPr>
          <a:xfrm>
            <a:off x="311700" y="1282075"/>
            <a:ext cx="5481725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Our custom PCB Board Design Process</a:t>
            </a: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 I did follow some steps to creating our custom PCB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 Initially I did install </a:t>
            </a:r>
            <a:r>
              <a:rPr lang="en-GB" dirty="0" err="1"/>
              <a:t>Kicad</a:t>
            </a:r>
            <a:r>
              <a:rPr lang="en-GB" dirty="0"/>
              <a:t> 9.0 for designing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 I did create a folder for save our custom board.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 I start add components from library to schematics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 After complete schematics then I start routing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 I added external plugin for auto routing like </a:t>
            </a:r>
            <a:r>
              <a:rPr lang="en-GB" dirty="0" err="1"/>
              <a:t>freerouting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 I added some connection manually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 I am able to see the nice 3D view of custom PCB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 Now I am able to generate Gerber file </a:t>
            </a:r>
            <a:endParaRPr dirty="0"/>
          </a:p>
        </p:txBody>
      </p:sp>
      <p:sp>
        <p:nvSpPr>
          <p:cNvPr id="4" name="Google Shape;226;p30">
            <a:extLst>
              <a:ext uri="{FF2B5EF4-FFF2-40B4-BE49-F238E27FC236}">
                <a16:creationId xmlns:a16="http://schemas.microsoft.com/office/drawing/2014/main" id="{542BE265-7984-473C-8FBC-DEB75E026350}"/>
              </a:ext>
            </a:extLst>
          </p:cNvPr>
          <p:cNvSpPr txBox="1"/>
          <p:nvPr/>
        </p:nvSpPr>
        <p:spPr>
          <a:xfrm>
            <a:off x="3783275" y="487740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GB" sz="800" dirty="0">
                <a:solidFill>
                  <a:schemeClr val="dk2"/>
                </a:solidFill>
              </a:rPr>
              <a:t>Page 20 : presenter Emaan</a:t>
            </a:r>
            <a:endParaRPr sz="800" dirty="0">
              <a:solidFill>
                <a:schemeClr val="dk2"/>
              </a:solidFill>
            </a:endParaRPr>
          </a:p>
        </p:txBody>
      </p:sp>
      <p:sp>
        <p:nvSpPr>
          <p:cNvPr id="5" name="Google Shape;224;p30">
            <a:extLst>
              <a:ext uri="{FF2B5EF4-FFF2-40B4-BE49-F238E27FC236}">
                <a16:creationId xmlns:a16="http://schemas.microsoft.com/office/drawing/2014/main" id="{17F4A4EE-C94A-43E8-B321-1CC70F342839}"/>
              </a:ext>
            </a:extLst>
          </p:cNvPr>
          <p:cNvSpPr txBox="1"/>
          <p:nvPr/>
        </p:nvSpPr>
        <p:spPr>
          <a:xfrm>
            <a:off x="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Hardware Engineering Lab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6" name="Google Shape;225;p30">
            <a:extLst>
              <a:ext uri="{FF2B5EF4-FFF2-40B4-BE49-F238E27FC236}">
                <a16:creationId xmlns:a16="http://schemas.microsoft.com/office/drawing/2014/main" id="{A4496FF9-E519-4993-9480-D0DFEA2F90D0}"/>
              </a:ext>
            </a:extLst>
          </p:cNvPr>
          <p:cNvSpPr txBox="1"/>
          <p:nvPr/>
        </p:nvSpPr>
        <p:spPr>
          <a:xfrm>
            <a:off x="748110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Summer Term 2025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7A0067-09E1-43BA-9D34-2D2D9BA676E7}"/>
              </a:ext>
            </a:extLst>
          </p:cNvPr>
          <p:cNvSpPr/>
          <p:nvPr/>
        </p:nvSpPr>
        <p:spPr>
          <a:xfrm>
            <a:off x="5509752" y="4414691"/>
            <a:ext cx="1725355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/>
              <a:t>Fig: PCB Layout</a:t>
            </a:r>
            <a:endParaRPr lang="en-US" dirty="0"/>
          </a:p>
        </p:txBody>
      </p:sp>
      <p:pic>
        <p:nvPicPr>
          <p:cNvPr id="3" name="Picture 2" descr="https://lh7-rt.googleusercontent.com/slidesz/AGV_vUeaHeUzd8Dww-55W8w3_qLBlV-t3yLNu9dQ3WJCZzN8isGo-7Uy6qBnBCUx205W_W7fDh60vGZ7RXSBq3OAUoySlzgf3MtvFkMRtqg2PpuZ_vQF6M-yV52a1yXZjkek1dJurcozaA=s2048?key=lRNno0ZX1l3jrIPIVq1ymw">
            <a:extLst>
              <a:ext uri="{FF2B5EF4-FFF2-40B4-BE49-F238E27FC236}">
                <a16:creationId xmlns:a16="http://schemas.microsoft.com/office/drawing/2014/main" id="{758B6049-33C7-4C59-A0FE-595F59633D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7849" y="530450"/>
            <a:ext cx="3512732" cy="3798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BOM Cost and Gerber files</a:t>
            </a:r>
            <a:endParaRPr/>
          </a:p>
        </p:txBody>
      </p:sp>
      <p:sp>
        <p:nvSpPr>
          <p:cNvPr id="249" name="Google Shape;249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87231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chemeClr val="dk1"/>
                </a:solidFill>
              </a:rPr>
              <a:t>BOM stands for Bill of Material that: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Is a detailed list of all components used in the PCB.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Includes part numbers, quantities, footprints, and specifications.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Helps manufacturers know what parts to purchase and assemble.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Generated automatically by the PCB design software (e.g., </a:t>
            </a:r>
            <a:r>
              <a:rPr lang="en-GB" sz="1100" dirty="0" err="1">
                <a:solidFill>
                  <a:schemeClr val="dk1"/>
                </a:solidFill>
              </a:rPr>
              <a:t>KiCad</a:t>
            </a:r>
            <a:r>
              <a:rPr lang="en-GB" sz="1100" dirty="0">
                <a:solidFill>
                  <a:schemeClr val="dk1"/>
                </a:solidFill>
              </a:rPr>
              <a:t>). 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chemeClr val="dk1"/>
                </a:solidFill>
              </a:rPr>
              <a:t>Gerber files are: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set of files that describe physical layout of PCB.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Includes copper layers, silkscreen, solder mask, and drill holes.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Used by PCB manufacturers to </a:t>
            </a:r>
            <a:r>
              <a:rPr lang="en-GB" sz="1100" b="1" dirty="0">
                <a:solidFill>
                  <a:schemeClr val="dk1"/>
                </a:solidFill>
              </a:rPr>
              <a:t>fabricate the board</a:t>
            </a:r>
            <a:r>
              <a:rPr lang="en-GB" sz="1100" dirty="0">
                <a:solidFill>
                  <a:schemeClr val="dk1"/>
                </a:solidFill>
              </a:rPr>
              <a:t>.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250" name="Google Shape;25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4781" y="2548128"/>
            <a:ext cx="1728669" cy="1913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3" descr="Gerber Files Layer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17681" y="3723487"/>
            <a:ext cx="238125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3434" y="2499525"/>
            <a:ext cx="2228850" cy="24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47760" y="324777"/>
            <a:ext cx="3624524" cy="211607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26;p30">
            <a:extLst>
              <a:ext uri="{FF2B5EF4-FFF2-40B4-BE49-F238E27FC236}">
                <a16:creationId xmlns:a16="http://schemas.microsoft.com/office/drawing/2014/main" id="{B26434A0-E6B2-4E1D-B146-F2322D36095D}"/>
              </a:ext>
            </a:extLst>
          </p:cNvPr>
          <p:cNvSpPr txBox="1"/>
          <p:nvPr/>
        </p:nvSpPr>
        <p:spPr>
          <a:xfrm>
            <a:off x="3422854" y="487740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GB" sz="800" dirty="0">
                <a:solidFill>
                  <a:schemeClr val="dk2"/>
                </a:solidFill>
              </a:rPr>
              <a:t>Page 21 : presenter Emaan</a:t>
            </a:r>
            <a:endParaRPr sz="800" dirty="0">
              <a:solidFill>
                <a:schemeClr val="dk2"/>
              </a:solidFill>
            </a:endParaRPr>
          </a:p>
        </p:txBody>
      </p:sp>
      <p:sp>
        <p:nvSpPr>
          <p:cNvPr id="9" name="Google Shape;224;p30">
            <a:extLst>
              <a:ext uri="{FF2B5EF4-FFF2-40B4-BE49-F238E27FC236}">
                <a16:creationId xmlns:a16="http://schemas.microsoft.com/office/drawing/2014/main" id="{F70C6011-B767-443D-A978-F09F6C843B75}"/>
              </a:ext>
            </a:extLst>
          </p:cNvPr>
          <p:cNvSpPr txBox="1"/>
          <p:nvPr/>
        </p:nvSpPr>
        <p:spPr>
          <a:xfrm>
            <a:off x="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Hardware Engineering Lab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0" name="Google Shape;225;p30">
            <a:extLst>
              <a:ext uri="{FF2B5EF4-FFF2-40B4-BE49-F238E27FC236}">
                <a16:creationId xmlns:a16="http://schemas.microsoft.com/office/drawing/2014/main" id="{D75115C0-A22A-43E9-8249-153B593BE3E1}"/>
              </a:ext>
            </a:extLst>
          </p:cNvPr>
          <p:cNvSpPr txBox="1"/>
          <p:nvPr/>
        </p:nvSpPr>
        <p:spPr>
          <a:xfrm>
            <a:off x="748110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Summer Term 2025</a:t>
            </a:r>
            <a:endParaRPr sz="800">
              <a:solidFill>
                <a:schemeClr val="dk2"/>
              </a:solidFill>
            </a:endParaRPr>
          </a:p>
        </p:txBody>
      </p:sp>
      <p:pic>
        <p:nvPicPr>
          <p:cNvPr id="2050" name="Picture 2" descr="https://lh7-rt.googleusercontent.com/slidesz/AGV_vUexE-Gv7nZ_QFGUqZv3ujHZEA437Ha_jnvLhujoHFedXPFYPJpb2r96jCS2_8MosMGNfhdAsxnFC5CcUYHLtIdLx2vZ-KdF6K0MFBUVGOBW-W9_yrae4GI0SS_f_9pGl17KdRUi=s2048?key=lRNno0ZX1l3jrIPIVq1ymw">
            <a:extLst>
              <a:ext uri="{FF2B5EF4-FFF2-40B4-BE49-F238E27FC236}">
                <a16:creationId xmlns:a16="http://schemas.microsoft.com/office/drawing/2014/main" id="{95047251-BD72-4365-97EF-EC10A2B0F2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271" y="3723487"/>
            <a:ext cx="2148823" cy="693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4"/>
          <p:cNvSpPr txBox="1">
            <a:spLocks noGrp="1"/>
          </p:cNvSpPr>
          <p:nvPr>
            <p:ph type="body" idx="1"/>
          </p:nvPr>
        </p:nvSpPr>
        <p:spPr>
          <a:xfrm>
            <a:off x="311700" y="1698726"/>
            <a:ext cx="8520600" cy="26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</a:rPr>
              <a:t>Thank you for listening</a:t>
            </a:r>
            <a:endParaRPr sz="28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800">
                <a:solidFill>
                  <a:schemeClr val="dk1"/>
                </a:solidFill>
              </a:rPr>
              <a:t>We are ready to show simulation on FPGA and answer your questions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259" name="Google Shape;259;p34"/>
          <p:cNvSpPr txBox="1"/>
          <p:nvPr/>
        </p:nvSpPr>
        <p:spPr>
          <a:xfrm>
            <a:off x="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Hardware Engineering Lab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60" name="Google Shape;260;p34"/>
          <p:cNvSpPr txBox="1"/>
          <p:nvPr/>
        </p:nvSpPr>
        <p:spPr>
          <a:xfrm>
            <a:off x="748110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Summer Term 2025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61" name="Google Shape;261;p34"/>
          <p:cNvSpPr txBox="1"/>
          <p:nvPr/>
        </p:nvSpPr>
        <p:spPr>
          <a:xfrm>
            <a:off x="3783275" y="487740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Page 1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0</TotalTime>
  <Words>1321</Words>
  <Application>Microsoft Office PowerPoint</Application>
  <PresentationFormat>On-screen Show (16:9)</PresentationFormat>
  <Paragraphs>208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Rockwell</vt:lpstr>
      <vt:lpstr>Rockwell Condensed</vt:lpstr>
      <vt:lpstr>Symbol</vt:lpstr>
      <vt:lpstr>Wingdings</vt:lpstr>
      <vt:lpstr>Wood Type</vt:lpstr>
      <vt:lpstr>Vending Machine Controller</vt:lpstr>
      <vt:lpstr>Requirements and Functionalities</vt:lpstr>
      <vt:lpstr>Concepts with diagrams_block diagram</vt:lpstr>
      <vt:lpstr>Concepts with diagrams_state machine diagram</vt:lpstr>
      <vt:lpstr>VHDL Code Implementations VendingMachine_Top.vhd </vt:lpstr>
      <vt:lpstr>VHDL Code Implementations FSM_Controller.vhd Part 1 </vt:lpstr>
      <vt:lpstr>VHDL Code Implementations FSM_Controller.vhd Part 2_processes </vt:lpstr>
      <vt:lpstr>VHDL Code Implementations FSM_Controller.vhd   Part 3_Process </vt:lpstr>
      <vt:lpstr>VHDL Code Implementations Coin_Handler.vhd </vt:lpstr>
      <vt:lpstr>VHDL Code Implementations Display_Manager.vhd </vt:lpstr>
      <vt:lpstr>Verification with Test Benches_Results:FSM_Controller</vt:lpstr>
      <vt:lpstr>Test Benches_Results:FSM_Controller</vt:lpstr>
      <vt:lpstr>Verification with Test Benches_Results:Coin_Handler</vt:lpstr>
      <vt:lpstr>Test Benches_Results:Coin_Handler</vt:lpstr>
      <vt:lpstr>Verification with Test Benches_Results:Display_Manager</vt:lpstr>
      <vt:lpstr>Test Benches_Results:Display_Manager</vt:lpstr>
      <vt:lpstr>FPGA Implementations_constraint file</vt:lpstr>
      <vt:lpstr>FPGA Simulations</vt:lpstr>
      <vt:lpstr>PCB Prototyping</vt:lpstr>
      <vt:lpstr>PCB Prototyping</vt:lpstr>
      <vt:lpstr>PCB Prototyping</vt:lpstr>
      <vt:lpstr>BOM Cost and Gerber files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Vending Machine Controller</dc:title>
  <cp:lastModifiedBy>zfw</cp:lastModifiedBy>
  <cp:revision>16</cp:revision>
  <dcterms:modified xsi:type="dcterms:W3CDTF">2025-06-24T12:52:33Z</dcterms:modified>
</cp:coreProperties>
</file>