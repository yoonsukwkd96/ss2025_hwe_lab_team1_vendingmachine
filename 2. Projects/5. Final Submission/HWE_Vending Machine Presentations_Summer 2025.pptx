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5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d320e355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d320e355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d320e3551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d320e3551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d320e3551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d320e3551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d320e3551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d320e3551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d320e3551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d320e3551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d320e3551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d320e3551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d320e3551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d320e3551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d320e3551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d320e3551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d320e355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d320e355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d320e3551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d320e3551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d320e3551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d320e3551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d320e3551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3d320e3551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d320e3551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d320e3551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d320e3551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3d320e3551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3d320e355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3d320e355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d320e355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3d320e3551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d320e355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3d320e355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a627ac3a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6a627ac3a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a627ac3a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6a627ac3a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a627ac3a3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6a627ac3a3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3d320e355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3d320e355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010210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3224773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113584"/>
            <a:ext cx="7667244" cy="20574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7236911" y="3051692"/>
            <a:ext cx="810678" cy="810677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074167"/>
            <a:ext cx="7475220" cy="2276856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3291840"/>
            <a:ext cx="5918454" cy="802386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3217001"/>
            <a:ext cx="895401" cy="480060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9151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2012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688492"/>
            <a:ext cx="9144000" cy="145500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918972"/>
            <a:ext cx="6960870" cy="264033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3765042"/>
            <a:ext cx="6789420" cy="8001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4704588"/>
            <a:ext cx="1983232" cy="273844"/>
          </a:xfrm>
        </p:spPr>
        <p:txBody>
          <a:bodyPr/>
          <a:lstStyle/>
          <a:p>
            <a:fld id="{96DFF08F-DC6B-4601-B491-B0F83F6DD2DA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4704588"/>
            <a:ext cx="4745736" cy="273844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73049" y="1744386"/>
            <a:ext cx="810678" cy="810677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1879600"/>
            <a:ext cx="891224" cy="540249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5649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85599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78528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6287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87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50"/>
            <a:ext cx="5033772" cy="3765042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3970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6/23/2025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4385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19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00050"/>
            <a:ext cx="1914525" cy="4229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400050"/>
            <a:ext cx="5629275" cy="42291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343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914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92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2037750"/>
            <a:ext cx="8520600" cy="10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Vending Machine Controller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301623" y="3335572"/>
            <a:ext cx="6380672" cy="8023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Team J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Younsuk Choi, </a:t>
            </a:r>
            <a:r>
              <a:rPr lang="en-GB" dirty="0" err="1"/>
              <a:t>Yuming</a:t>
            </a:r>
            <a:r>
              <a:rPr lang="en-GB" dirty="0"/>
              <a:t> (Leano) Wang, Muhammad </a:t>
            </a:r>
            <a:r>
              <a:rPr lang="en-GB" dirty="0" err="1"/>
              <a:t>Emaan</a:t>
            </a:r>
            <a:r>
              <a:rPr lang="en-GB" dirty="0"/>
              <a:t> Sajid</a:t>
            </a:r>
            <a:endParaRPr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294967295"/>
          </p:nvPr>
        </p:nvSpPr>
        <p:spPr>
          <a:xfrm>
            <a:off x="353875" y="4218287"/>
            <a:ext cx="8521700" cy="7921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 dirty="0"/>
              <a:t>2025.06.24</a:t>
            </a:r>
            <a:endParaRPr sz="1650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1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Concepts with diagrams_block diagram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2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00" y="1051900"/>
            <a:ext cx="5846127" cy="36851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25B2D6C-8292-4F24-9069-C77DEE64E7C3}"/>
              </a:ext>
            </a:extLst>
          </p:cNvPr>
          <p:cNvSpPr/>
          <p:nvPr/>
        </p:nvSpPr>
        <p:spPr>
          <a:xfrm>
            <a:off x="5991127" y="1357804"/>
            <a:ext cx="3017300" cy="307334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/>
              <a:t>Selection of items using switches</a:t>
            </a:r>
          </a:p>
          <a:p>
            <a:pPr marL="342900" lvl="0" indent="-342900" fontAlgn="base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/>
              <a:t>Display the names and the prices of the items using 8 digits of seven segment display</a:t>
            </a:r>
          </a:p>
          <a:p>
            <a:pPr marL="342900" lvl="0" indent="-342900" fontAlgn="base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/>
              <a:t>Insertion coins using push buttons</a:t>
            </a:r>
          </a:p>
          <a:p>
            <a:pPr marL="342900" lvl="0" indent="-342900" fontAlgn="base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/>
              <a:t>Display the inserted coin amounts using 8 digits of seven segment display</a:t>
            </a:r>
          </a:p>
          <a:p>
            <a:pPr marL="342900" lvl="0" indent="-342900" fontAlgn="base">
              <a:lnSpc>
                <a:spcPct val="107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/>
              <a:t>Display the current state using LEDs</a:t>
            </a: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7967" y="1428775"/>
            <a:ext cx="3103620" cy="293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Concepts with diagrams_state machine diagram</a:t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03" y="1056425"/>
            <a:ext cx="877259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3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4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46725" y="266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VHDL Code Implementations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VendingMachine_Top.vhd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/>
          </a:blip>
          <a:srcRect t="1497"/>
          <a:stretch/>
        </p:blipFill>
        <p:spPr>
          <a:xfrm>
            <a:off x="348250" y="2108400"/>
            <a:ext cx="3636950" cy="26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9204" y="1201690"/>
            <a:ext cx="3710651" cy="3675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46725" y="266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VHDL Code Implementations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FSM_Controller.vhd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Part 1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863" y="799413"/>
            <a:ext cx="5041800" cy="411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4BCC92-7C54-4571-A7D9-9CE417F12378}"/>
              </a:ext>
            </a:extLst>
          </p:cNvPr>
          <p:cNvSpPr txBox="1"/>
          <p:nvPr/>
        </p:nvSpPr>
        <p:spPr>
          <a:xfrm>
            <a:off x="373787" y="2292077"/>
            <a:ext cx="27765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string_to_ascii</a:t>
            </a:r>
            <a:endParaRPr lang="en-US" i="1" dirty="0"/>
          </a:p>
          <a:p>
            <a:r>
              <a:rPr lang="en-US" dirty="0"/>
              <a:t>converts 8-characters string to a 64-bit std_logic_vector</a:t>
            </a:r>
          </a:p>
          <a:p>
            <a:endParaRPr lang="en-US" dirty="0"/>
          </a:p>
          <a:p>
            <a:r>
              <a:rPr lang="en-US" i="1" dirty="0"/>
              <a:t>format_price_to_string</a:t>
            </a:r>
          </a:p>
          <a:p>
            <a:r>
              <a:rPr lang="en-US" dirty="0"/>
              <a:t>converts 14-bit unsigned integer(cents) to 4-digit ASCII character string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6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46725" y="266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VHDL Code Implementations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FSM_Controller.vhd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Part 2_processes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25" y="2376513"/>
            <a:ext cx="4080475" cy="258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8"/>
          <p:cNvGrpSpPr/>
          <p:nvPr/>
        </p:nvGrpSpPr>
        <p:grpSpPr>
          <a:xfrm>
            <a:off x="4383110" y="1107892"/>
            <a:ext cx="3916178" cy="3856775"/>
            <a:chOff x="3869075" y="327425"/>
            <a:chExt cx="3780825" cy="3723475"/>
          </a:xfrm>
        </p:grpSpPr>
        <p:pic>
          <p:nvPicPr>
            <p:cNvPr id="108" name="Google Shape;108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69075" y="327425"/>
              <a:ext cx="3780825" cy="3128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69075" y="3455600"/>
              <a:ext cx="1868600" cy="5953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86D69A-6369-4F6E-8545-647A3517A808}"/>
              </a:ext>
            </a:extLst>
          </p:cNvPr>
          <p:cNvCxnSpPr>
            <a:cxnSpLocks/>
            <a:stCxn id="109" idx="3"/>
          </p:cNvCxnSpPr>
          <p:nvPr/>
        </p:nvCxnSpPr>
        <p:spPr>
          <a:xfrm flipV="1">
            <a:off x="6318606" y="4124813"/>
            <a:ext cx="1063339" cy="5315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DFF956E-4DF2-4B5A-86ED-3C815FD7BBC1}"/>
              </a:ext>
            </a:extLst>
          </p:cNvPr>
          <p:cNvSpPr/>
          <p:nvPr/>
        </p:nvSpPr>
        <p:spPr>
          <a:xfrm>
            <a:off x="7249384" y="3639986"/>
            <a:ext cx="1526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Moore’s FSM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7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7" name="Google Shape;117;p19"/>
          <p:cNvSpPr txBox="1">
            <a:spLocks noGrp="1"/>
          </p:cNvSpPr>
          <p:nvPr>
            <p:ph type="title"/>
          </p:nvPr>
        </p:nvSpPr>
        <p:spPr>
          <a:xfrm>
            <a:off x="46725" y="266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VHDL Code Implementations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FSM_Controller.vhd</a:t>
            </a:r>
            <a:r>
              <a:rPr lang="en-GB" dirty="0"/>
              <a:t>			Part 3_Process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8" name="Google Shape;118;p19"/>
          <p:cNvPicPr preferRelativeResize="0"/>
          <p:nvPr/>
        </p:nvPicPr>
        <p:blipFill rotWithShape="1">
          <a:blip r:embed="rId3">
            <a:alphaModFix/>
          </a:blip>
          <a:srcRect b="13449"/>
          <a:stretch/>
        </p:blipFill>
        <p:spPr>
          <a:xfrm>
            <a:off x="160575" y="1361975"/>
            <a:ext cx="3812844" cy="3658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9"/>
          <p:cNvGrpSpPr/>
          <p:nvPr/>
        </p:nvGrpSpPr>
        <p:grpSpPr>
          <a:xfrm>
            <a:off x="4093318" y="2287849"/>
            <a:ext cx="4622417" cy="2425671"/>
            <a:chOff x="4239975" y="2062326"/>
            <a:chExt cx="4798025" cy="2517824"/>
          </a:xfrm>
        </p:grpSpPr>
        <p:pic>
          <p:nvPicPr>
            <p:cNvPr id="120" name="Google Shape;120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39975" y="2652600"/>
              <a:ext cx="4798025" cy="1927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9"/>
            <p:cNvPicPr preferRelativeResize="0"/>
            <p:nvPr/>
          </p:nvPicPr>
          <p:blipFill rotWithShape="1">
            <a:blip r:embed="rId3">
              <a:alphaModFix/>
            </a:blip>
            <a:srcRect t="86546"/>
            <a:stretch/>
          </p:blipFill>
          <p:spPr>
            <a:xfrm>
              <a:off x="4239975" y="2062326"/>
              <a:ext cx="3957700" cy="590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8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46725" y="266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VHDL Code Implementations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Coin_Handler.vhd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p20" title="Coin_Handl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0900" y="980675"/>
            <a:ext cx="3206426" cy="395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9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46725" y="266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VHDL Code Implementations</a:t>
            </a:r>
            <a:endParaRPr/>
          </a:p>
          <a:p>
            <a:pPr marL="36576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Display_Manager.vhd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" name="Google Shape;139;p21" title="Display_Manager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25" y="898550"/>
            <a:ext cx="3670950" cy="412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4575" y="1794700"/>
            <a:ext cx="3641450" cy="314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Verification with Test Benches_Results:FSM_Controller</a:t>
            </a:r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Test Cases: </a:t>
            </a:r>
            <a:endParaRPr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1: Check if the state transitions from IDLE to DISPLAY when the BTNC is pressed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2: Check if the state transitions from DISPLAY to INSERT when no switch is selected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3: Check if the state transitions from DISPLAY to INSERT when switch 1 is selected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4: Check if the state transitions from INSERT to DISPENSE when inserted amount is lower than the price of the item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5: Check if the state transitions from INSERT to DISPENSE when inserted amount is greater or equal to the price of the item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6: Check if the state transitions from DISPENSE to IDLE when a switch is still on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7: Check if the state transitions from DISPENSE to IDLE when a switch is finally off.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8: Check if the state transitions from IDLE to DISPLAY when the BTNC is pressed.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9: Check if the item 1 is displayed correctly if the SW(0) is on. (</a:t>
            </a:r>
            <a:r>
              <a:rPr lang="en-GB" sz="1100" dirty="0" err="1">
                <a:solidFill>
                  <a:schemeClr val="dk1"/>
                </a:solidFill>
              </a:rPr>
              <a:t>SW_tb</a:t>
            </a:r>
            <a:r>
              <a:rPr lang="en-GB" sz="1100" dirty="0">
                <a:solidFill>
                  <a:schemeClr val="dk1"/>
                </a:solidFill>
              </a:rPr>
              <a:t> = “001”)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10: Check if the item 2 is displayed correctly if the SW(1) is on. (</a:t>
            </a:r>
            <a:r>
              <a:rPr lang="en-GB" sz="1100" dirty="0" err="1">
                <a:solidFill>
                  <a:schemeClr val="dk1"/>
                </a:solidFill>
              </a:rPr>
              <a:t>SW_tb</a:t>
            </a:r>
            <a:r>
              <a:rPr lang="en-GB" sz="1100" dirty="0">
                <a:solidFill>
                  <a:schemeClr val="dk1"/>
                </a:solidFill>
              </a:rPr>
              <a:t> = “010”)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11:  Check if the item 3 is displayed correctly if the SW(2) is on. (</a:t>
            </a:r>
            <a:r>
              <a:rPr lang="en-GB" sz="1100" dirty="0" err="1">
                <a:solidFill>
                  <a:schemeClr val="dk1"/>
                </a:solidFill>
              </a:rPr>
              <a:t>SW_tb</a:t>
            </a:r>
            <a:r>
              <a:rPr lang="en-GB" sz="1100" dirty="0">
                <a:solidFill>
                  <a:schemeClr val="dk1"/>
                </a:solidFill>
              </a:rPr>
              <a:t> = “100”)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12: Check if the inserted amount (50) is correctly being displayed on the right 4 digits of 7 segment display.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13: Check if the inserted amount (150) allows state transition to DISPENSE and the correct change is displayed on the 7 segment display.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14: Check if the state transitions from DISPENSE to IDLE when a switch is still on.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Test case 15: Check if the state transitions from DISPENSE to IDLE when the switch is finally off. 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47" name="Google Shape;147;p22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10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8D25C1D-D122-41D3-938E-4718B5434406}"/>
              </a:ext>
            </a:extLst>
          </p:cNvPr>
          <p:cNvCxnSpPr/>
          <p:nvPr/>
        </p:nvCxnSpPr>
        <p:spPr>
          <a:xfrm flipV="1">
            <a:off x="6747872" y="1208076"/>
            <a:ext cx="733228" cy="24895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1854E97-51C4-430F-AB7B-246131B8C531}"/>
              </a:ext>
            </a:extLst>
          </p:cNvPr>
          <p:cNvSpPr/>
          <p:nvPr/>
        </p:nvSpPr>
        <p:spPr>
          <a:xfrm>
            <a:off x="6868940" y="755343"/>
            <a:ext cx="1827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One hot coding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311700" y="33398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Test </a:t>
            </a:r>
            <a:r>
              <a:rPr lang="en-GB" dirty="0" err="1"/>
              <a:t>Benches_Results:FSM_Controller</a:t>
            </a:r>
            <a:endParaRPr dirty="0"/>
          </a:p>
        </p:txBody>
      </p:sp>
      <p:sp>
        <p:nvSpPr>
          <p:cNvPr id="155" name="Google Shape;155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10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59" name="Google Shape;159;p23" title="FSM_Controller Test Bench 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4781"/>
            <a:ext cx="9144000" cy="4186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Verification with Test Benches_Results:Coin_Handler</a:t>
            </a:r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Test Cases: </a:t>
            </a:r>
            <a:endParaRPr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‘01234567’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‘89 </a:t>
            </a:r>
            <a:r>
              <a:rPr lang="en-GB" sz="1100" dirty="0" err="1">
                <a:solidFill>
                  <a:schemeClr val="dk1"/>
                </a:solidFill>
              </a:rPr>
              <a:t>AEObc</a:t>
            </a:r>
            <a:r>
              <a:rPr lang="en-GB" sz="1100" dirty="0">
                <a:solidFill>
                  <a:schemeClr val="dk1"/>
                </a:solidFill>
              </a:rPr>
              <a:t>’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‘</a:t>
            </a:r>
            <a:r>
              <a:rPr lang="en-GB" sz="1100" dirty="0" err="1">
                <a:solidFill>
                  <a:schemeClr val="dk1"/>
                </a:solidFill>
              </a:rPr>
              <a:t>ghlor</a:t>
            </a:r>
            <a:r>
              <a:rPr lang="en-GB" sz="1100" dirty="0">
                <a:solidFill>
                  <a:schemeClr val="dk1"/>
                </a:solidFill>
              </a:rPr>
              <a:t>   ’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‘colA0130’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‘bEEr0150’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‘h2o 0090’</a:t>
            </a:r>
            <a:endParaRPr dirty="0"/>
          </a:p>
        </p:txBody>
      </p:sp>
      <p:sp>
        <p:nvSpPr>
          <p:cNvPr id="165" name="Google Shape;165;p24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dk2"/>
                </a:solidFill>
              </a:rPr>
              <a:t>Page 12</a:t>
            </a:r>
            <a:endParaRPr sz="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311700" y="3845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Test </a:t>
            </a:r>
            <a:r>
              <a:rPr lang="en-GB" dirty="0" err="1"/>
              <a:t>Benches_Results:Coin_Handler</a:t>
            </a:r>
            <a:endParaRPr dirty="0"/>
          </a:p>
        </p:txBody>
      </p:sp>
      <p:sp>
        <p:nvSpPr>
          <p:cNvPr id="174" name="Google Shape;174;p25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11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77" name="Google Shape;177;p25" title="Coin_Handler Test Bench 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7256"/>
            <a:ext cx="9144000" cy="4186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Verification with Test Benches_Results:Display_Manager</a:t>
            </a:r>
            <a:endParaRPr/>
          </a:p>
        </p:txBody>
      </p:sp>
      <p:sp>
        <p:nvSpPr>
          <p:cNvPr id="183" name="Google Shape;183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Test Cases: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Insert 10 cents and see if the inserted amount is 10 cents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Insert 20 cents and see if the inserted amount is 30 cents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Insert 50 cents and see if the inserted amount is 80 cents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Insert 100 cents = 1 euro and see if the inserted amount is 180 cents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 dirty="0">
                <a:solidFill>
                  <a:schemeClr val="dk1"/>
                </a:solidFill>
              </a:rPr>
              <a:t>Reset the test</a:t>
            </a:r>
            <a:endParaRPr dirty="0"/>
          </a:p>
        </p:txBody>
      </p:sp>
      <p:sp>
        <p:nvSpPr>
          <p:cNvPr id="184" name="Google Shape;184;p26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dk2"/>
                </a:solidFill>
              </a:rPr>
              <a:t>Page 14</a:t>
            </a:r>
            <a:endParaRPr sz="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>
            <a:spLocks noGrp="1"/>
          </p:cNvSpPr>
          <p:nvPr>
            <p:ph type="title"/>
          </p:nvPr>
        </p:nvSpPr>
        <p:spPr>
          <a:xfrm>
            <a:off x="311700" y="42551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Test </a:t>
            </a:r>
            <a:r>
              <a:rPr lang="en-GB" dirty="0" err="1"/>
              <a:t>Benches_Results:Display_Manager</a:t>
            </a:r>
            <a:endParaRPr dirty="0"/>
          </a:p>
        </p:txBody>
      </p:sp>
      <p:sp>
        <p:nvSpPr>
          <p:cNvPr id="192" name="Google Shape;192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12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96" name="Google Shape;196;p27" title="Display_Manager Test Bench 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1801"/>
            <a:ext cx="9144002" cy="4061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FPGA Implementations_constraint file</a:t>
            </a:r>
            <a:endParaRPr/>
          </a:p>
        </p:txBody>
      </p:sp>
      <p:sp>
        <p:nvSpPr>
          <p:cNvPr id="202" name="Google Shape;202;p28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dk2"/>
                </a:solidFill>
              </a:rPr>
              <a:t>Page 16</a:t>
            </a:r>
            <a:endParaRPr sz="800" dirty="0">
              <a:solidFill>
                <a:schemeClr val="dk2"/>
              </a:solidFill>
            </a:endParaRPr>
          </a:p>
        </p:txBody>
      </p:sp>
      <p:pic>
        <p:nvPicPr>
          <p:cNvPr id="205" name="Google Shape;205;p28"/>
          <p:cNvPicPr preferRelativeResize="0"/>
          <p:nvPr/>
        </p:nvPicPr>
        <p:blipFill rotWithShape="1">
          <a:blip r:embed="rId3">
            <a:alphaModFix/>
          </a:blip>
          <a:srcRect b="46033"/>
          <a:stretch/>
        </p:blipFill>
        <p:spPr>
          <a:xfrm>
            <a:off x="184925" y="1196650"/>
            <a:ext cx="4612550" cy="3694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8"/>
          <p:cNvPicPr preferRelativeResize="0"/>
          <p:nvPr/>
        </p:nvPicPr>
        <p:blipFill rotWithShape="1">
          <a:blip r:embed="rId3">
            <a:alphaModFix/>
          </a:blip>
          <a:srcRect t="53445"/>
          <a:stretch/>
        </p:blipFill>
        <p:spPr>
          <a:xfrm>
            <a:off x="4355025" y="1690109"/>
            <a:ext cx="4612550" cy="3187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FPGA Simulations</a:t>
            </a: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		         Videos</a:t>
            </a:r>
            <a:endParaRPr dirty="0"/>
          </a:p>
        </p:txBody>
      </p:sp>
      <p:sp>
        <p:nvSpPr>
          <p:cNvPr id="216" name="Google Shape;216;p29"/>
          <p:cNvSpPr txBox="1">
            <a:spLocks noGrp="1"/>
          </p:cNvSpPr>
          <p:nvPr>
            <p:ph type="body" idx="4294967295"/>
          </p:nvPr>
        </p:nvSpPr>
        <p:spPr>
          <a:xfrm>
            <a:off x="4883150" y="1196975"/>
            <a:ext cx="4260850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Simulation in Real Time</a:t>
            </a:r>
            <a:endParaRPr dirty="0"/>
          </a:p>
        </p:txBody>
      </p:sp>
      <p:sp>
        <p:nvSpPr>
          <p:cNvPr id="213" name="Google Shape;213;p29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dk2"/>
                </a:solidFill>
              </a:rPr>
              <a:t>Page 17</a:t>
            </a:r>
            <a:endParaRPr sz="800" dirty="0">
              <a:solidFill>
                <a:schemeClr val="dk2"/>
              </a:solidFill>
            </a:endParaRPr>
          </a:p>
        </p:txBody>
      </p:sp>
      <p:pic>
        <p:nvPicPr>
          <p:cNvPr id="217" name="Google Shape;217;p29" title="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288" y="1612663"/>
            <a:ext cx="3948433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PCB Prototyping</a:t>
            </a:r>
            <a:endParaRPr/>
          </a:p>
        </p:txBody>
      </p:sp>
      <p:sp>
        <p:nvSpPr>
          <p:cNvPr id="223" name="Google Shape;223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PCB design is a process of designing printed circuit boards in which we electrically connect electronic components. Some known process of PCB Design </a:t>
            </a:r>
            <a:endParaRPr dirty="0"/>
          </a:p>
          <a:p>
            <a:pPr marL="457200" lvl="0" indent="-325755" algn="just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Find requirement according the target group or client 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Select the design tools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Schematics drawing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Components placements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Routing 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Design Rules Check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Gerber file generation 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Simulation and testing 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Prototyping </a:t>
            </a:r>
            <a:endParaRPr dirty="0"/>
          </a:p>
          <a:p>
            <a:pPr marL="457200" lvl="0" indent="-325755" algn="just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dirty="0"/>
              <a:t>Final production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/>
              <a:t> </a:t>
            </a:r>
            <a:endParaRPr dirty="0"/>
          </a:p>
        </p:txBody>
      </p:sp>
      <p:sp>
        <p:nvSpPr>
          <p:cNvPr id="224" name="Google Shape;224;p30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dk2"/>
                </a:solidFill>
              </a:rPr>
              <a:t>Page 18</a:t>
            </a:r>
            <a:endParaRPr sz="800" dirty="0">
              <a:solidFill>
                <a:schemeClr val="dk2"/>
              </a:solidFill>
            </a:endParaRPr>
          </a:p>
        </p:txBody>
      </p:sp>
      <p:pic>
        <p:nvPicPr>
          <p:cNvPr id="227" name="Google Shape;2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125" y="1681962"/>
            <a:ext cx="3041175" cy="30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PCB Prototyping</a:t>
            </a:r>
            <a:endParaRPr/>
          </a:p>
        </p:txBody>
      </p:sp>
      <p:sp>
        <p:nvSpPr>
          <p:cNvPr id="233" name="Google Shape;233;p31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3600061" cy="34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</a:rPr>
              <a:t>After discussion and deep analysis we select these elements for our PCB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Two 7 segment display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power supply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Resistors and Capacitors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Central component is the Nexus A7 </a:t>
            </a:r>
            <a:r>
              <a:rPr lang="en-GB" sz="1100" i="1" dirty="0">
                <a:solidFill>
                  <a:schemeClr val="dk1"/>
                </a:solidFill>
              </a:rPr>
              <a:t>XC7A100T </a:t>
            </a:r>
            <a:r>
              <a:rPr lang="en-GB" sz="1100" dirty="0">
                <a:solidFill>
                  <a:schemeClr val="dk1"/>
                </a:solidFill>
              </a:rPr>
              <a:t>FPGA, handling all control logic and I/O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Connected to multiple push buttons for item selection and user interaction.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PNP and NPN transistors control outputs like relays or motors, acting as switches via FPGA signals.</a:t>
            </a:r>
            <a:endParaRPr sz="1100" b="1" dirty="0">
              <a:solidFill>
                <a:schemeClr val="dk1"/>
              </a:solidFill>
            </a:endParaRPr>
          </a:p>
        </p:txBody>
      </p:sp>
      <p:pic>
        <p:nvPicPr>
          <p:cNvPr id="234" name="Google Shape;23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8662" y="244902"/>
            <a:ext cx="4724824" cy="3003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200000">
            <a:off x="5458361" y="3337500"/>
            <a:ext cx="1604026" cy="174187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1"/>
          <p:cNvSpPr txBox="1"/>
          <p:nvPr/>
        </p:nvSpPr>
        <p:spPr>
          <a:xfrm>
            <a:off x="2375023" y="5568913"/>
            <a:ext cx="1121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dk2"/>
                </a:solidFill>
              </a:rPr>
              <a:t>Schematics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237" name="Google Shape;237;p31"/>
          <p:cNvSpPr txBox="1"/>
          <p:nvPr/>
        </p:nvSpPr>
        <p:spPr>
          <a:xfrm>
            <a:off x="7198213" y="4663801"/>
            <a:ext cx="1121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dk2"/>
                </a:solidFill>
              </a:rPr>
              <a:t>3D View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8" name="Google Shape;226;p30">
            <a:extLst>
              <a:ext uri="{FF2B5EF4-FFF2-40B4-BE49-F238E27FC236}">
                <a16:creationId xmlns:a16="http://schemas.microsoft.com/office/drawing/2014/main" id="{D519478A-A558-4C1D-B352-7EBEE7A18BD9}"/>
              </a:ext>
            </a:extLst>
          </p:cNvPr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dk2"/>
                </a:solidFill>
              </a:rPr>
              <a:t>Page 19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9" name="Google Shape;237;p31">
            <a:extLst>
              <a:ext uri="{FF2B5EF4-FFF2-40B4-BE49-F238E27FC236}">
                <a16:creationId xmlns:a16="http://schemas.microsoft.com/office/drawing/2014/main" id="{A1BA26F8-BAC7-4F8C-9055-DA03B8999E59}"/>
              </a:ext>
            </a:extLst>
          </p:cNvPr>
          <p:cNvSpPr txBox="1"/>
          <p:nvPr/>
        </p:nvSpPr>
        <p:spPr>
          <a:xfrm>
            <a:off x="7710600" y="3286926"/>
            <a:ext cx="1121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dk2"/>
                </a:solidFill>
              </a:rPr>
              <a:t>Schematics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10" name="Google Shape;224;p30">
            <a:extLst>
              <a:ext uri="{FF2B5EF4-FFF2-40B4-BE49-F238E27FC236}">
                <a16:creationId xmlns:a16="http://schemas.microsoft.com/office/drawing/2014/main" id="{D0AD3E50-2C12-4E0D-BDD9-B84D4029A6E0}"/>
              </a:ext>
            </a:extLst>
          </p:cNvPr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" name="Google Shape;225;p30">
            <a:extLst>
              <a:ext uri="{FF2B5EF4-FFF2-40B4-BE49-F238E27FC236}">
                <a16:creationId xmlns:a16="http://schemas.microsoft.com/office/drawing/2014/main" id="{88E39909-C97E-4124-890B-D1E9BB53D593}"/>
              </a:ext>
            </a:extLst>
          </p:cNvPr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PCB Prototyping</a:t>
            </a:r>
            <a:endParaRPr/>
          </a:p>
        </p:txBody>
      </p:sp>
      <p:sp>
        <p:nvSpPr>
          <p:cNvPr id="243" name="Google Shape;243;p32"/>
          <p:cNvSpPr txBox="1">
            <a:spLocks noGrp="1"/>
          </p:cNvSpPr>
          <p:nvPr>
            <p:ph type="body" idx="1"/>
          </p:nvPr>
        </p:nvSpPr>
        <p:spPr>
          <a:xfrm>
            <a:off x="311700" y="1282075"/>
            <a:ext cx="548172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Our custom PCB Board Design Process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I did follow some steps to creating our custom PCB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Initially I did install </a:t>
            </a:r>
            <a:r>
              <a:rPr lang="en-GB" dirty="0" err="1"/>
              <a:t>Kicad</a:t>
            </a:r>
            <a:r>
              <a:rPr lang="en-GB" dirty="0"/>
              <a:t> 9.0 for designing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I did create a folder for save our custom board.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I start add components from library to schematics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After complete schematics then I start routing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I added external plugin for auto routing like </a:t>
            </a:r>
            <a:r>
              <a:rPr lang="en-GB" dirty="0" err="1"/>
              <a:t>freerouting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I added some connection manually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I am able to see the nice 3D view of custom PCB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 Now I am able to generate Gerber file </a:t>
            </a:r>
            <a:endParaRPr dirty="0"/>
          </a:p>
        </p:txBody>
      </p:sp>
      <p:sp>
        <p:nvSpPr>
          <p:cNvPr id="4" name="Google Shape;226;p30">
            <a:extLst>
              <a:ext uri="{FF2B5EF4-FFF2-40B4-BE49-F238E27FC236}">
                <a16:creationId xmlns:a16="http://schemas.microsoft.com/office/drawing/2014/main" id="{542BE265-7984-473C-8FBC-DEB75E026350}"/>
              </a:ext>
            </a:extLst>
          </p:cNvPr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dk2"/>
                </a:solidFill>
              </a:rPr>
              <a:t>Page 20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5" name="Google Shape;224;p30">
            <a:extLst>
              <a:ext uri="{FF2B5EF4-FFF2-40B4-BE49-F238E27FC236}">
                <a16:creationId xmlns:a16="http://schemas.microsoft.com/office/drawing/2014/main" id="{17F4A4EE-C94A-43E8-B321-1CC70F342839}"/>
              </a:ext>
            </a:extLst>
          </p:cNvPr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" name="Google Shape;225;p30">
            <a:extLst>
              <a:ext uri="{FF2B5EF4-FFF2-40B4-BE49-F238E27FC236}">
                <a16:creationId xmlns:a16="http://schemas.microsoft.com/office/drawing/2014/main" id="{A4496FF9-E519-4993-9480-D0DFEA2F90D0}"/>
              </a:ext>
            </a:extLst>
          </p:cNvPr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026" name="Picture 2" descr="https://lh7-rt.googleusercontent.com/slidesz/AGV_vUf_K22Ka0hcfuUDwdES_n5GY5aj7ju9OFzCBPf17Xed2GB5UFDUnviy2Hc-nhM_7sLFejdh9yGkLn6mN-A_bOvSz2CnA3x8kMAKPxpigVh3LO4p5fx0vFOTPmlGVwivkXilAS3bhQ=s2048?key=lRNno0ZX1l3jrIPIVq1ymw">
            <a:extLst>
              <a:ext uri="{FF2B5EF4-FFF2-40B4-BE49-F238E27FC236}">
                <a16:creationId xmlns:a16="http://schemas.microsoft.com/office/drawing/2014/main" id="{8C71DDF5-9C1A-4AC4-8D81-9D2C2FE50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113" y="1103150"/>
            <a:ext cx="3052731" cy="330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67A0067-09E1-43BA-9D34-2D2D9BA676E7}"/>
              </a:ext>
            </a:extLst>
          </p:cNvPr>
          <p:cNvSpPr/>
          <p:nvPr/>
        </p:nvSpPr>
        <p:spPr>
          <a:xfrm>
            <a:off x="5896870" y="4415735"/>
            <a:ext cx="172535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/>
              <a:t>Fig: PCB Layout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BOM Cost and Gerber files</a:t>
            </a:r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</a:rPr>
              <a:t>BOM stands for Bill of Material that: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Is a detailed list of all components used in the PCB.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Includes part numbers, quantities, footprints, and specifications.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Helps manufacturers know what parts to purchase and assemble.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Generated automatically by the PCB design software (e.g., </a:t>
            </a:r>
            <a:r>
              <a:rPr lang="en-GB" sz="1100" dirty="0" err="1">
                <a:solidFill>
                  <a:schemeClr val="dk1"/>
                </a:solidFill>
              </a:rPr>
              <a:t>KiCad</a:t>
            </a:r>
            <a:r>
              <a:rPr lang="en-GB" sz="1100" dirty="0">
                <a:solidFill>
                  <a:schemeClr val="dk1"/>
                </a:solidFill>
              </a:rPr>
              <a:t>). 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</a:rPr>
              <a:t>Gerber files are: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set of files that describe physical layout of PCB.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Includes copper layers, silkscreen, solder mask, and drill holes.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Used by PCB manufacturers to </a:t>
            </a:r>
            <a:r>
              <a:rPr lang="en-GB" sz="1100" b="1" dirty="0">
                <a:solidFill>
                  <a:schemeClr val="dk1"/>
                </a:solidFill>
              </a:rPr>
              <a:t>fabricate the board</a:t>
            </a:r>
            <a:r>
              <a:rPr lang="en-GB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50" name="Google Shape;25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5178" y="2695575"/>
            <a:ext cx="2148822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3" descr="Gerber Files Layer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925" y="3962400"/>
            <a:ext cx="23812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5150" y="46500"/>
            <a:ext cx="22288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525" y="3573225"/>
            <a:ext cx="2767300" cy="15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26;p30">
            <a:extLst>
              <a:ext uri="{FF2B5EF4-FFF2-40B4-BE49-F238E27FC236}">
                <a16:creationId xmlns:a16="http://schemas.microsoft.com/office/drawing/2014/main" id="{B26434A0-E6B2-4E1D-B146-F2322D36095D}"/>
              </a:ext>
            </a:extLst>
          </p:cNvPr>
          <p:cNvSpPr txBox="1"/>
          <p:nvPr/>
        </p:nvSpPr>
        <p:spPr>
          <a:xfrm>
            <a:off x="3422854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dk2"/>
                </a:solidFill>
              </a:rPr>
              <a:t>Page 21</a:t>
            </a:r>
            <a:endParaRPr sz="800" dirty="0">
              <a:solidFill>
                <a:schemeClr val="dk2"/>
              </a:solidFill>
            </a:endParaRPr>
          </a:p>
        </p:txBody>
      </p:sp>
      <p:sp>
        <p:nvSpPr>
          <p:cNvPr id="9" name="Google Shape;224;p30">
            <a:extLst>
              <a:ext uri="{FF2B5EF4-FFF2-40B4-BE49-F238E27FC236}">
                <a16:creationId xmlns:a16="http://schemas.microsoft.com/office/drawing/2014/main" id="{F70C6011-B767-443D-A978-F09F6C843B75}"/>
              </a:ext>
            </a:extLst>
          </p:cNvPr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" name="Google Shape;225;p30">
            <a:extLst>
              <a:ext uri="{FF2B5EF4-FFF2-40B4-BE49-F238E27FC236}">
                <a16:creationId xmlns:a16="http://schemas.microsoft.com/office/drawing/2014/main" id="{D75115C0-A22A-43E9-8249-153B593BE3E1}"/>
              </a:ext>
            </a:extLst>
          </p:cNvPr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2050" name="Picture 2" descr="https://lh7-rt.googleusercontent.com/slidesz/AGV_vUexE-Gv7nZ_QFGUqZv3ujHZEA437Ha_jnvLhujoHFedXPFYPJpb2r96jCS2_8MosMGNfhdAsxnFC5CcUYHLtIdLx2vZ-KdF6K0MFBUVGOBW-W9_yrae4GI0SS_f_9pGl17KdRUi=s2048?key=lRNno0ZX1l3jrIPIVq1ymw">
            <a:extLst>
              <a:ext uri="{FF2B5EF4-FFF2-40B4-BE49-F238E27FC236}">
                <a16:creationId xmlns:a16="http://schemas.microsoft.com/office/drawing/2014/main" id="{95047251-BD72-4365-97EF-EC10A2B0F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267" y="3114968"/>
            <a:ext cx="2148823" cy="69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 txBox="1">
            <a:spLocks noGrp="1"/>
          </p:cNvSpPr>
          <p:nvPr>
            <p:ph type="body" idx="1"/>
          </p:nvPr>
        </p:nvSpPr>
        <p:spPr>
          <a:xfrm>
            <a:off x="311700" y="1698726"/>
            <a:ext cx="8520600" cy="26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</a:rPr>
              <a:t>Thank you for listening</a:t>
            </a:r>
            <a:endParaRPr sz="28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800">
                <a:solidFill>
                  <a:schemeClr val="dk1"/>
                </a:solidFill>
              </a:rPr>
              <a:t>We are ready to show simulation on FPGA and answer your questions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Hardware Engineering Lab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60" name="Google Shape;260;p34"/>
          <p:cNvSpPr txBox="1"/>
          <p:nvPr/>
        </p:nvSpPr>
        <p:spPr>
          <a:xfrm>
            <a:off x="7481100" y="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Summer Term 2025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61" name="Google Shape;261;p34"/>
          <p:cNvSpPr txBox="1"/>
          <p:nvPr/>
        </p:nvSpPr>
        <p:spPr>
          <a:xfrm>
            <a:off x="3783275" y="4877400"/>
            <a:ext cx="1662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Page 1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0</TotalTime>
  <Words>1189</Words>
  <Application>Microsoft Office PowerPoint</Application>
  <PresentationFormat>On-screen Show (16:9)</PresentationFormat>
  <Paragraphs>196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Rockwell</vt:lpstr>
      <vt:lpstr>Rockwell Condensed</vt:lpstr>
      <vt:lpstr>Symbol</vt:lpstr>
      <vt:lpstr>Wingdings</vt:lpstr>
      <vt:lpstr>Wood Type</vt:lpstr>
      <vt:lpstr>Vending Machine Controller</vt:lpstr>
      <vt:lpstr>Concepts with diagrams_block diagram</vt:lpstr>
      <vt:lpstr>Concepts with diagrams_state machine diagram</vt:lpstr>
      <vt:lpstr>VHDL Code Implementations VendingMachine_Top.vhd </vt:lpstr>
      <vt:lpstr>VHDL Code Implementations FSM_Controller.vhd Part 1 </vt:lpstr>
      <vt:lpstr>VHDL Code Implementations FSM_Controller.vhd Part 2_processes </vt:lpstr>
      <vt:lpstr>VHDL Code Implementations FSM_Controller.vhd   Part 3_Process </vt:lpstr>
      <vt:lpstr>VHDL Code Implementations Coin_Handler.vhd </vt:lpstr>
      <vt:lpstr>VHDL Code Implementations Display_Manager.vhd </vt:lpstr>
      <vt:lpstr>Verification with Test Benches_Results:FSM_Controller</vt:lpstr>
      <vt:lpstr>Test Benches_Results:FSM_Controller</vt:lpstr>
      <vt:lpstr>Verification with Test Benches_Results:Coin_Handler</vt:lpstr>
      <vt:lpstr>Test Benches_Results:Coin_Handler</vt:lpstr>
      <vt:lpstr>Verification with Test Benches_Results:Display_Manager</vt:lpstr>
      <vt:lpstr>Test Benches_Results:Display_Manager</vt:lpstr>
      <vt:lpstr>FPGA Implementations_constraint file</vt:lpstr>
      <vt:lpstr>FPGA Simulations</vt:lpstr>
      <vt:lpstr>PCB Prototyping</vt:lpstr>
      <vt:lpstr>PCB Prototyping</vt:lpstr>
      <vt:lpstr>PCB Prototyping</vt:lpstr>
      <vt:lpstr>BOM Cost and Gerber files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Vending Machine Controller</dc:title>
  <cp:lastModifiedBy>zfw</cp:lastModifiedBy>
  <cp:revision>11</cp:revision>
  <dcterms:modified xsi:type="dcterms:W3CDTF">2025-06-23T22:08:59Z</dcterms:modified>
</cp:coreProperties>
</file>